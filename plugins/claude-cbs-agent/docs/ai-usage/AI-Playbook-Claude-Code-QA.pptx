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CA311"/>
                </a:solidFill>
                <a:latin typeface="Calibri"/>
              </a:rPr>
              <a:t>AI PLAYBOOK ДЛЯ QA / BA / AQA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Как эффективно работать с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C7CEE8"/>
                </a:solidFill>
                <a:latin typeface="Calibri"/>
              </a:rPr>
              <a:t>Кэширование и токены · best practices · роли и роутинг моделей ·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C7CEE8"/>
                </a:solidFill>
                <a:latin typeface="Calibri"/>
              </a:rPr>
              <a:t>полный цикл тикета от требований до автоматизации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434840"/>
            <a:ext cx="777240" cy="381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3C2"/>
                </a:solidFill>
                <a:latin typeface="Calibri"/>
              </a:rPr>
              <a:t>AI Architect  ·  cbs-ai-agentic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780A0"/>
                </a:solidFill>
                <a:latin typeface="Calibri"/>
              </a:rPr>
              <a:t>Источники: code.claude.com/docs (Claude Code) + claude-cbs-agent (внутренний плейбук команды)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ПЛАН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О чём этот плейбук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01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960120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67128"/>
            <a:ext cx="960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CA311"/>
                </a:solidFill>
                <a:latin typeface="Calibri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020824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4213D"/>
                </a:solidFill>
                <a:latin typeface="Calibri"/>
              </a:rPr>
              <a:t>Как это работает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9631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277"/>
                </a:solidFill>
                <a:latin typeface="Calibri"/>
              </a:rPr>
              <a:t>механика контекста и кэша — фундамент для всего остального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72968"/>
            <a:ext cx="960120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74136"/>
            <a:ext cx="960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CA311"/>
                </a:solidFill>
                <a:latin typeface="Calibri"/>
              </a:rPr>
              <a:t>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2783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4213D"/>
                </a:solidFill>
                <a:latin typeface="Calibri"/>
              </a:rPr>
              <a:t>Общие best practices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703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277"/>
                </a:solidFill>
                <a:latin typeface="Calibri"/>
              </a:rPr>
              <a:t>как работать с ИИ эффективно — для любой роли, не только QA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79976"/>
            <a:ext cx="960120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81144"/>
            <a:ext cx="960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CA311"/>
                </a:solidFill>
                <a:latin typeface="Calibri"/>
              </a:rPr>
              <a:t>III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4348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4213D"/>
                </a:solidFill>
                <a:latin typeface="Calibri"/>
              </a:rPr>
              <a:t>Специфика Manual QA и claude-cbs-agent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91032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277"/>
                </a:solidFill>
                <a:latin typeface="Calibri"/>
              </a:rPr>
              <a:t>роли, роутинг моделей, лайфхаки конкретно для нашей команды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586984"/>
            <a:ext cx="960120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788152"/>
            <a:ext cx="960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CA311"/>
                </a:solidFill>
                <a:latin typeface="Calibri"/>
              </a:rPr>
              <a:t>IV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64184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4213D"/>
                </a:solidFill>
                <a:latin typeface="Calibri"/>
              </a:rPr>
              <a:t>Полный цикл на живом примере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6117336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277"/>
                </a:solidFill>
                <a:latin typeface="Calibri"/>
              </a:rPr>
              <a:t>новый модуль: от тикета до PR с автотестами, шаг за шагом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80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277"/>
                </a:solidFill>
                <a:latin typeface="Calibri"/>
              </a:rPr>
              <a:t>Всё, что дальше — проверено по официальной документации Claude Code и по файлам нашего собственного фреймворка, не по памяти модели.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CA311"/>
                </a:solidFill>
                <a:latin typeface="Calibri"/>
              </a:rPr>
              <a:t>ЧАСТЬ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Как это работает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94760"/>
            <a:ext cx="777240" cy="381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041648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C7CEE8"/>
                </a:solidFill>
                <a:latin typeface="Calibri"/>
              </a:rPr>
              <a:t>Контекстное окно, кэш, сессии, fork/subagent — фундамент, из которого выводится каждый совет дальше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C2"/>
                </a:solidFill>
                <a:latin typeface="Calibri"/>
              </a:rPr>
              <a:t>02 / 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ФУНДАМЕНТ №1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Контекстное окно — не бесконечный ресурс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03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3454298" cy="5029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92224"/>
            <a:ext cx="30885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ЧТО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3454298" cy="27432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404872"/>
            <a:ext cx="3051962" cy="2350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30" b="0" i="0">
                <a:solidFill>
                  <a:srgbClr val="1B1F2A"/>
                </a:solidFill>
                <a:latin typeface="Calibri"/>
              </a:rPr>
              <a:t>Контекстное окно — это весь текущий разговор целиком: системный промпт, CLAUDE.md, каждый прочитанный файл, каждый вызов инструмента и его результат.</a:t>
            </a:r>
          </a:p>
          <a:p>
            <a:pPr algn="l">
              <a:lnSpc>
                <a:spcPct val="128000"/>
              </a:lnSpc>
            </a:pPr>
            <a:r>
              <a:rPr sz="1230" b="0" i="0">
                <a:solidFill>
                  <a:srgbClr val="1B1F2A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230" b="0" i="0">
                <a:solidFill>
                  <a:srgbClr val="1B1F2A"/>
                </a:solidFill>
                <a:latin typeface="Calibri"/>
              </a:rPr>
              <a:t>У модели нет памяти между запросами — при каждом сообщении всё это пересылается заново, целиком.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698" y="1691640"/>
            <a:ext cx="3454298" cy="5029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1578" y="1792224"/>
            <a:ext cx="30885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ЗАЧЕМ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698" y="2194560"/>
            <a:ext cx="3454298" cy="27432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9866" y="2404872"/>
            <a:ext cx="3051962" cy="2350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30" b="0" i="0">
                <a:solidFill>
                  <a:srgbClr val="1B1F2A"/>
                </a:solidFill>
                <a:latin typeface="Calibri"/>
              </a:rPr>
              <a:t>Качество ответа деградирует по мере заполнения окна — модель начинает «забывать» ранние инструкции и чаще ошибаться.</a:t>
            </a:r>
          </a:p>
          <a:p>
            <a:pPr algn="l">
              <a:lnSpc>
                <a:spcPct val="128000"/>
              </a:lnSpc>
            </a:pPr>
            <a:r>
              <a:rPr sz="1230" b="0" i="0">
                <a:solidFill>
                  <a:srgbClr val="1B1F2A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230" b="0" i="0">
                <a:solidFill>
                  <a:srgbClr val="1B1F2A"/>
                </a:solidFill>
                <a:latin typeface="Calibri"/>
              </a:rPr>
              <a:t>Это НЕ про деньги (деньги — это кэш, следующий слайд). Это про качество: раздутый контекст — típичная причина, когда «Claude вдруг стал тупить».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7316" y="1691640"/>
            <a:ext cx="3454298" cy="5029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0196" y="1792224"/>
            <a:ext cx="30885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КАК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7316" y="2194560"/>
            <a:ext cx="3454298" cy="27432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8484" y="2404872"/>
            <a:ext cx="3051962" cy="2350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30" b="0" i="0">
                <a:solidFill>
                  <a:srgbClr val="1B1F2A"/>
                </a:solidFill>
                <a:latin typeface="Calibri"/>
              </a:rPr>
              <a:t>Следи за заполнением через статус-лайн или /context — не жди явных признаков деградации на глаз.</a:t>
            </a:r>
          </a:p>
          <a:p>
            <a:pPr algn="l">
              <a:lnSpc>
                <a:spcPct val="128000"/>
              </a:lnSpc>
            </a:pPr>
            <a:r>
              <a:rPr sz="1230" b="0" i="0">
                <a:solidFill>
                  <a:srgbClr val="1B1F2A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230" b="0" i="0">
                <a:solidFill>
                  <a:srgbClr val="1B1F2A"/>
                </a:solidFill>
                <a:latin typeface="Calibri"/>
              </a:rPr>
              <a:t>Правило двух попыток: поправил Claude дважды по одному и тому же — контекст уже засорён неудачными попытками, /clear выигрывает у третьей попытки почти всегда.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663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5B6277"/>
                </a:solidFill>
                <a:latin typeface="Calibri"/>
              </a:rPr>
              <a:t>Прямая цитата из best-practices.md: «Claude's context window fills up fast... performance degrades as it fills. Claude may start forgetting earlier instructions or making more mistakes.»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ГЛАВНЫЙ ПРИНЦИП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Внутри окна: кэш = совпадение префикса, и только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04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881360" cy="9601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FFFFFF"/>
                </a:solidFill>
                <a:latin typeface="Calibri"/>
              </a:rPr>
              <a:t>«Любое изменение в начале запроса делает непригодным для чтения из кэша всё, что находится после него»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80360"/>
            <a:ext cx="3538728" cy="20116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80360"/>
            <a:ext cx="3538728" cy="6400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063240"/>
            <a:ext cx="3172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213D"/>
                </a:solidFill>
                <a:latin typeface="Calibri"/>
              </a:rPr>
              <a:t>System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456432"/>
            <a:ext cx="31729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1F2A"/>
                </a:solidFill>
                <a:latin typeface="Calibri"/>
              </a:rPr>
              <a:t>Инструкции Claude Code,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1F2A"/>
                </a:solidFill>
                <a:latin typeface="Calibri"/>
              </a:rPr>
              <a:t>определения tools, output style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206240"/>
            <a:ext cx="3172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277"/>
                </a:solidFill>
                <a:latin typeface="Calibri"/>
              </a:rPr>
              <a:t>→ Меняется при смене tools</a:t>
            </a:r>
          </a:p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277"/>
                </a:solidFill>
                <a:latin typeface="Calibri"/>
              </a:rPr>
              <a:t>или обновлении версии</a:t>
            </a:r>
          </a:p>
        </p:txBody>
      </p:sp>
      <p:sp>
        <p:nvSpPr>
          <p:cNvPr id="14" name="Chevron 13"/>
          <p:cNvSpPr/>
          <p:nvPr/>
        </p:nvSpPr>
        <p:spPr>
          <a:xfrm>
            <a:off x="4197096" y="3703320"/>
            <a:ext cx="146304" cy="457200"/>
          </a:xfrm>
          <a:prstGeom prst="chevron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6824" y="2880360"/>
            <a:ext cx="3538728" cy="20116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6824" y="2880360"/>
            <a:ext cx="3538728" cy="6400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3063240"/>
            <a:ext cx="3172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213D"/>
                </a:solidFill>
                <a:latin typeface="Calibri"/>
              </a:rPr>
              <a:t>Project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456432"/>
            <a:ext cx="31729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1F2A"/>
                </a:solidFill>
                <a:latin typeface="Calibri"/>
              </a:rPr>
              <a:t>CLAUDE.md, auto-memory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4206240"/>
            <a:ext cx="3172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277"/>
                </a:solidFill>
                <a:latin typeface="Calibri"/>
              </a:rPr>
              <a:t>→ Меняется при старте сессии,</a:t>
            </a:r>
          </a:p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277"/>
                </a:solidFill>
                <a:latin typeface="Calibri"/>
              </a:rPr>
              <a:t>/clear, /compact</a:t>
            </a:r>
          </a:p>
        </p:txBody>
      </p:sp>
      <p:sp>
        <p:nvSpPr>
          <p:cNvPr id="20" name="Chevron 19"/>
          <p:cNvSpPr/>
          <p:nvPr/>
        </p:nvSpPr>
        <p:spPr>
          <a:xfrm>
            <a:off x="7863840" y="3703320"/>
            <a:ext cx="146304" cy="457200"/>
          </a:xfrm>
          <a:prstGeom prst="chevron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73567" y="2880360"/>
            <a:ext cx="3538728" cy="20116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73567" y="2880360"/>
            <a:ext cx="3538728" cy="64008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4735" y="3063240"/>
            <a:ext cx="3172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213D"/>
                </a:solidFill>
                <a:latin typeface="Calibri"/>
              </a:rPr>
              <a:t>Conversation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5" y="3456432"/>
            <a:ext cx="317296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1F2A"/>
                </a:solidFill>
                <a:latin typeface="Calibri"/>
              </a:rPr>
              <a:t>Сообщения, ответы,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1F2A"/>
                </a:solidFill>
                <a:latin typeface="Calibri"/>
              </a:rPr>
              <a:t>результаты tool calls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5" y="4206240"/>
            <a:ext cx="3172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277"/>
                </a:solidFill>
                <a:latin typeface="Calibri"/>
              </a:rPr>
              <a:t>→ Меняется на каждом ходе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6636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>
                <a:solidFill>
                  <a:srgbClr val="FCA311"/>
                </a:solidFill>
                <a:latin typeface="Calibri"/>
              </a:rPr>
              <a:t>●  </a:t>
            </a:r>
            <a:r>
              <a:rPr sz="1450" b="1">
                <a:solidFill>
                  <a:srgbClr val="1B1F2A"/>
                </a:solidFill>
                <a:latin typeface="Calibri"/>
              </a:rPr>
              <a:t>Смена персоны/команды в диалоге — не проблема.</a:t>
            </a:r>
            <a:r>
              <a:rPr sz="1450">
                <a:solidFill>
                  <a:srgbClr val="1B1F2A"/>
                </a:solidFill>
                <a:latin typeface="Calibri"/>
              </a:rPr>
              <a:t> Личность/скилл дописывается в конец, не трогает слои выше.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>
                <a:solidFill>
                  <a:srgbClr val="FCA311"/>
                </a:solidFill>
                <a:latin typeface="Calibri"/>
              </a:rPr>
              <a:t>●  </a:t>
            </a:r>
            <a:r>
              <a:rPr sz="1450" b="1">
                <a:solidFill>
                  <a:srgbClr val="1B1F2A"/>
                </a:solidFill>
                <a:latin typeface="Calibri"/>
              </a:rPr>
              <a:t>Смена модели/effort посреди сессии — всегда полный промах.</a:t>
            </a:r>
            <a:r>
              <a:rPr sz="1450">
                <a:solidFill>
                  <a:srgbClr val="1B1F2A"/>
                </a:solidFill>
                <a:latin typeface="Calibri"/>
              </a:rPr>
              <a:t> У каждой пары модель+уровень свой кэш.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ЭКОНОМИКА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Сколько это стоит на самом деле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05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520440" cy="18288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91440" cy="1828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~10%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06040"/>
            <a:ext cx="3063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7CEE8"/>
                </a:solidFill>
                <a:latin typeface="Calibri"/>
              </a:rPr>
              <a:t>цены обычного input стоит чтение из кэша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3520440" cy="18288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91440" cy="18288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201168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5 мин / 1 час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606040"/>
            <a:ext cx="3063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7CEE8"/>
                </a:solidFill>
                <a:latin typeface="Calibri"/>
              </a:rPr>
              <a:t>TTL: 5 минут по умолчанию для subagents/forks;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7CEE8"/>
                </a:solidFill>
                <a:latin typeface="Calibri"/>
              </a:rPr>
              <a:t>1 час — основной диалог на подписке в рамках плана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828800"/>
            <a:ext cx="3520440" cy="18288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828800"/>
            <a:ext cx="91440" cy="18288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201168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самый дорогой ход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606040"/>
            <a:ext cx="3063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7CEE8"/>
                </a:solidFill>
                <a:latin typeface="Calibri"/>
              </a:rPr>
              <a:t>первый запрос после перерыва длиннее TTL —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7CEE8"/>
                </a:solidFill>
                <a:latin typeface="Calibri"/>
              </a:rPr>
              <a:t>полный промах, читается и пишется всё заново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77639"/>
            <a:ext cx="10881360" cy="14173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Вывод для повседневной работы: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>
                <a:solidFill>
                  <a:srgbClr val="FCA311"/>
                </a:solidFill>
                <a:latin typeface="Calibri"/>
              </a:rPr>
              <a:t>●  </a:t>
            </a:r>
            <a:r>
              <a:rPr sz="1350" b="1">
                <a:solidFill>
                  <a:srgbClr val="1B1F2A"/>
                </a:solidFill>
                <a:latin typeface="Calibri"/>
              </a:rPr>
              <a:t>Сессия, открытая часами, тарифицируется по кэш-тарифу на каждом ходе</a:t>
            </a:r>
            <a:r>
              <a:rPr sz="1350">
                <a:solidFill>
                  <a:srgbClr val="1B1F2A"/>
                </a:solidFill>
                <a:latin typeface="Calibri"/>
              </a:rPr>
              <a:t> — не бесплатно, просто дешевле.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>
                <a:solidFill>
                  <a:srgbClr val="FCA311"/>
                </a:solidFill>
                <a:latin typeface="Calibri"/>
              </a:rPr>
              <a:t>●  </a:t>
            </a:r>
            <a:r>
              <a:rPr sz="1350" b="1">
                <a:solidFill>
                  <a:srgbClr val="1B1F2A"/>
                </a:solidFill>
                <a:latin typeface="Calibri"/>
              </a:rPr>
              <a:t>«Кэшируется» ≠ «бесплатно».</a:t>
            </a:r>
            <a:r>
              <a:rPr sz="1350">
                <a:solidFill>
                  <a:srgbClr val="1B1F2A"/>
                </a:solidFill>
                <a:latin typeface="Calibri"/>
              </a:rPr>
              <a:t> ~10%, а не 0% — не тащить лишнее в диалог всё равно выгоднее, чем надеяться на кэш.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277"/>
                </a:solidFill>
                <a:latin typeface="Calibri"/>
              </a:rPr>
              <a:t>Прямая цитата из документации: «первый ход после перерыва длиннее TTL может быть самым дорогим запросом за сессию».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ВАЖНОЕ УТОЧНЕНИЕ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Как физически «вызвать» кэш — команды не существует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06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881360" cy="6858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Кэш не вызывается — он срабатывает автоматически на КАЖДОМ запросе. Твоя роль — не мешать ему совпасть, а не «включать» его.</a:t>
            </a:r>
          </a:p>
        </p:txBody>
      </p:sp>
      <p:sp>
        <p:nvSpPr>
          <p:cNvPr id="9" name="Oval 8"/>
          <p:cNvSpPr/>
          <p:nvPr/>
        </p:nvSpPr>
        <p:spPr>
          <a:xfrm>
            <a:off x="1421251" y="2697480"/>
            <a:ext cx="502920" cy="502920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213D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37560"/>
            <a:ext cx="2065263" cy="23774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2065263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502152"/>
            <a:ext cx="18458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Жмёшь 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33672"/>
            <a:ext cx="1845807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Claude Code собирает весь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запрос: system+tools+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CLAUDE.md+история+сообщение</a:t>
            </a:r>
          </a:p>
        </p:txBody>
      </p:sp>
      <p:sp>
        <p:nvSpPr>
          <p:cNvPr id="14" name="Chevron 13"/>
          <p:cNvSpPr/>
          <p:nvPr/>
        </p:nvSpPr>
        <p:spPr>
          <a:xfrm>
            <a:off x="2714487" y="4343400"/>
            <a:ext cx="128016" cy="365760"/>
          </a:xfrm>
          <a:prstGeom prst="chevron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32819" y="2697480"/>
            <a:ext cx="502920" cy="502920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213D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1647" y="3337560"/>
            <a:ext cx="2065263" cy="23774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51647" y="3337560"/>
            <a:ext cx="2065263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1375" y="3502152"/>
            <a:ext cx="18458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Claude Code сам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1375" y="4233672"/>
            <a:ext cx="1845807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расставляет cache_control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на границах слоёв —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ты этого не делаешь</a:t>
            </a:r>
          </a:p>
        </p:txBody>
      </p:sp>
      <p:sp>
        <p:nvSpPr>
          <p:cNvPr id="20" name="Chevron 19"/>
          <p:cNvSpPr/>
          <p:nvPr/>
        </p:nvSpPr>
        <p:spPr>
          <a:xfrm>
            <a:off x="4926055" y="4343400"/>
            <a:ext cx="128016" cy="365760"/>
          </a:xfrm>
          <a:prstGeom prst="chevron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44387" y="2697480"/>
            <a:ext cx="502920" cy="502920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213D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63215" y="3337560"/>
            <a:ext cx="2065263" cy="23774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63215" y="3337560"/>
            <a:ext cx="2065263" cy="54864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2943" y="3502152"/>
            <a:ext cx="18458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Один HTTP-запрos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2943" y="4233672"/>
            <a:ext cx="1845807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летит в Anthropic API.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API сравнивает начало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побайтово с недавним</a:t>
            </a:r>
          </a:p>
        </p:txBody>
      </p:sp>
      <p:sp>
        <p:nvSpPr>
          <p:cNvPr id="26" name="Chevron 25"/>
          <p:cNvSpPr/>
          <p:nvPr/>
        </p:nvSpPr>
        <p:spPr>
          <a:xfrm>
            <a:off x="7137623" y="4343400"/>
            <a:ext cx="128016" cy="365760"/>
          </a:xfrm>
          <a:prstGeom prst="chevron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55955" y="2697480"/>
            <a:ext cx="502920" cy="502920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213D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4783" y="3337560"/>
            <a:ext cx="2065263" cy="23774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4783" y="3337560"/>
            <a:ext cx="2065263" cy="54864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4511" y="3502152"/>
            <a:ext cx="18458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Совпало / не совпало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4511" y="4233672"/>
            <a:ext cx="1845807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совпавший кусок читается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(~10% цены) или считается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и пишется с нуля</a:t>
            </a:r>
          </a:p>
        </p:txBody>
      </p:sp>
      <p:sp>
        <p:nvSpPr>
          <p:cNvPr id="32" name="Chevron 31"/>
          <p:cNvSpPr/>
          <p:nvPr/>
        </p:nvSpPr>
        <p:spPr>
          <a:xfrm>
            <a:off x="9349191" y="4343400"/>
            <a:ext cx="128016" cy="365760"/>
          </a:xfrm>
          <a:prstGeom prst="chevron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67523" y="2697480"/>
            <a:ext cx="502920" cy="502920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213D"/>
                </a:solidFill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86351" y="3337560"/>
            <a:ext cx="2065263" cy="23774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86351" y="3337560"/>
            <a:ext cx="2065263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96079" y="3502152"/>
            <a:ext cx="18458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/usage — постфактум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96079" y="4233672"/>
            <a:ext cx="1845807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cache_read/cache_creation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показывают, что УЖЕ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произошло на сервере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5B6277"/>
                </a:solidFill>
                <a:latin typeface="Calibri"/>
              </a:rPr>
              <a:t>Аналогия: как кэш браузера — ты не жмёшь кнопку «включить кэш», он срабатывает сам, когда второй запрос начинается так же, как первый.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ЖИВОЙ ПРИМЕР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А вот что ты видишь как результат, шаг за шагом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07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881360" cy="1417320"/>
          </a:xfrm>
          <a:prstGeom prst="rect">
            <a:avLst/>
          </a:prstGeom>
          <a:solidFill>
            <a:srgbClr val="0D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10881360" cy="292608"/>
          </a:xfrm>
          <a:prstGeom prst="rect">
            <a:avLst/>
          </a:prstGeom>
          <a:solidFill>
            <a:srgbClr val="1E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783080"/>
            <a:ext cx="109728" cy="10972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408" y="1783080"/>
            <a:ext cx="109728" cy="109728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9576" y="1783080"/>
            <a:ext cx="109728" cy="10972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719072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C2"/>
                </a:solidFill>
                <a:latin typeface="Calibri"/>
              </a:rPr>
              <a:t>шаг 1 — новая сессия, кэша ещё нет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112264"/>
            <a:ext cx="10378440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onsolas"/>
              </a:rPr>
              <a:t>&gt;  </a:t>
            </a:r>
            <a:r>
              <a:rPr sz="1250">
                <a:solidFill>
                  <a:srgbClr val="FFFFFF"/>
                </a:solidFill>
                <a:latin typeface="Consolas"/>
              </a:rPr>
              <a:t>проанализируй TB-2179 по Confluence и Bruno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onsolas"/>
              </a:rPr>
              <a:t>$  </a:t>
            </a:r>
            <a:r>
              <a:rPr sz="1250">
                <a:solidFill>
                  <a:srgbClr val="2A9D8F"/>
                </a:solidFill>
                <a:latin typeface="Consolas"/>
              </a:rPr>
              <a:t>/usage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>
                <a:solidFill>
                  <a:srgbClr val="9AA3C2"/>
                </a:solidFill>
                <a:latin typeface="Consolas"/>
              </a:rPr>
              <a:t>claude-sonnet-5:  0.2k input, 1.1k output, 38.4k cache write, 0 cache read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10881360" cy="1417320"/>
          </a:xfrm>
          <a:prstGeom prst="rect">
            <a:avLst/>
          </a:prstGeom>
          <a:solidFill>
            <a:srgbClr val="0D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246120"/>
            <a:ext cx="10881360" cy="292608"/>
          </a:xfrm>
          <a:prstGeom prst="rect">
            <a:avLst/>
          </a:prstGeom>
          <a:solidFill>
            <a:srgbClr val="1E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3337560"/>
            <a:ext cx="109728" cy="10972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8408" y="3337560"/>
            <a:ext cx="109728" cy="109728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79576" y="3337560"/>
            <a:ext cx="109728" cy="10972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3273552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C2"/>
                </a:solidFill>
                <a:latin typeface="Calibri"/>
              </a:rPr>
              <a:t>шаг 2 — та же сессия, пара минут спустя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666744"/>
            <a:ext cx="10378440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onsolas"/>
              </a:rPr>
              <a:t>&gt;  </a:t>
            </a:r>
            <a:r>
              <a:rPr sz="1250">
                <a:solidFill>
                  <a:srgbClr val="FFFFFF"/>
                </a:solidFill>
                <a:latin typeface="Consolas"/>
              </a:rPr>
              <a:t>теперь оформи открытые вопросы для Viktoriya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onsolas"/>
              </a:rPr>
              <a:t>$  </a:t>
            </a:r>
            <a:r>
              <a:rPr sz="1250">
                <a:solidFill>
                  <a:srgbClr val="2A9D8F"/>
                </a:solidFill>
                <a:latin typeface="Consolas"/>
              </a:rPr>
              <a:t>/usage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>
                <a:solidFill>
                  <a:srgbClr val="9AA3C2"/>
                </a:solidFill>
                <a:latin typeface="Consolas"/>
              </a:rPr>
              <a:t>claude-sonnet-5:  0.2k input, 0.8k output, 0.9k cache write, 38.4k cache read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00600"/>
            <a:ext cx="10881360" cy="1280160"/>
          </a:xfrm>
          <a:prstGeom prst="rect">
            <a:avLst/>
          </a:prstGeom>
          <a:solidFill>
            <a:srgbClr val="0D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800600"/>
            <a:ext cx="10881360" cy="292608"/>
          </a:xfrm>
          <a:prstGeom prst="rect">
            <a:avLst/>
          </a:prstGeom>
          <a:solidFill>
            <a:srgbClr val="1E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4892040"/>
            <a:ext cx="109728" cy="10972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" y="4892040"/>
            <a:ext cx="109728" cy="109728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9576" y="4892040"/>
            <a:ext cx="109728" cy="10972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4828032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C2"/>
                </a:solidFill>
                <a:latin typeface="Calibri"/>
              </a:rPr>
              <a:t>шаг 3 — переключил модель посреди сессии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5221224"/>
            <a:ext cx="103784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onsolas"/>
              </a:rPr>
              <a:t>$  </a:t>
            </a:r>
            <a:r>
              <a:rPr sz="1250">
                <a:solidFill>
                  <a:srgbClr val="E76F51"/>
                </a:solidFill>
                <a:latin typeface="Consolas"/>
              </a:rPr>
              <a:t>/model opus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>
                <a:solidFill>
                  <a:srgbClr val="9AA3C2"/>
                </a:solidFill>
                <a:latin typeface="Consolas"/>
              </a:rPr>
              <a:t>claude-opus-5:  0.2k input, 0.9k output, 39.5k cache write, 0 cache read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B6277"/>
                </a:solidFill>
                <a:latin typeface="Calibri"/>
              </a:rPr>
              <a:t>Формат /usage реальный (из документации), цифры — иллюстративные. Проверяй именно так у себя, не на глаз.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ПРОВЕРКА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Как понять, что кэш реально работает — прямо сейчас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08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83080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1746504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Открой /usage, посмотри строку своей модели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112264"/>
            <a:ext cx="9875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запомни число у «cache read» (в новой сессии оно будет 0 — это нормально, кэш ещё пишется)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43200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2706624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Отправь следующее сообщение как обычно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3072384"/>
            <a:ext cx="9875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не трогай /model, /effort — просто продолжи диалог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03320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3666744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Снова /usage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032504"/>
            <a:ext cx="9875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«cache read» должен вырасти почти на весь объём предыдущей истории, «cache write» — упасть до размера только нового кусочка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663440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4626864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Если «cache read» = 0 несколько ходов подряд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4992624"/>
            <a:ext cx="9875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либо кэш отключён явно, либо что-то рвёт префикс каждый раз — см. чек-лист на следующем слайде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760720"/>
            <a:ext cx="10881360" cy="7772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87959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4213D"/>
                </a:solidFill>
                <a:latin typeface="Calibri"/>
              </a:rPr>
              <a:t>Кэш включён по умолчанию — специально «включать» не нужно. Отключить можно только явно: DISABLE_PROMPT_CACHING=1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4213D"/>
                </a:solidFill>
                <a:latin typeface="Calibri"/>
              </a:rPr>
              <a:t>(и отдельно по модели: _SONNET / _OPUS / _HAIKU / _FABLE). Если ни одна из них не стоит — кэш уже работает.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ЧЕК-ЛИСТ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Какой «префикс» нужен — то, что должно остаться неизменным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09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213D"/>
                </a:solidFill>
                <a:latin typeface="Calibri"/>
              </a:rPr>
              <a:t>Префикс не выбирают руками — его строит Claude Code сам. Твоя задача — не менять то, что уже совпадает: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31720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042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Одна сессия, одна рабочая директория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60903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кэш не путешествует между сессиями/папками — даже между worktree одного репозитория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91839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6440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Не переключай модель/effort/fast-mode посреди задачи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21023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каждое из них — часть ключа кэша, смена = новый ключ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251959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24527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Успевай уложиться в TTL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8114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следующее сообщение — в течение 5 минут (по умолчанию) или часа, если настроил; иначе даже идентичный префикс уже просрочен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212079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184647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Не трогай deny-правила на целые инструменты и MCP-серверы без причины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4126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полный список инвалидаторов — на слайде «что рвёт кэш»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ЖИВОЙ ПРИМЕР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Настройка TTL для сессий с долгими паузами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10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4213D"/>
                </a:solidFill>
                <a:latin typeface="Calibri"/>
              </a:rPr>
              <a:t>По умолчанию на API-ключе/провайдере кэш живёт 5 минут. Если между сообщениями бывают долгие паузы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4213D"/>
                </a:solidFill>
                <a:latin typeface="Calibri"/>
              </a:rPr>
              <a:t>(ревью, ожидание ответа от BA/QA) — включи часовой TTL вручную: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10881360" cy="1508760"/>
          </a:xfrm>
          <a:prstGeom prst="rect">
            <a:avLst/>
          </a:prstGeom>
          <a:solidFill>
            <a:srgbClr val="0D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10881360" cy="292608"/>
          </a:xfrm>
          <a:prstGeom prst="rect">
            <a:avLst/>
          </a:prstGeom>
          <a:solidFill>
            <a:srgbClr val="1E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560320"/>
            <a:ext cx="109728" cy="10972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8408" y="2560320"/>
            <a:ext cx="109728" cy="109728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9576" y="2560320"/>
            <a:ext cx="109728" cy="10972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496312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C2"/>
                </a:solidFill>
                <a:latin typeface="Calibri"/>
              </a:rPr>
              <a:t>1 час для основного диалога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889504"/>
            <a:ext cx="10378440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>
                <a:solidFill>
                  <a:srgbClr val="9AA3C2"/>
                </a:solidFill>
                <a:latin typeface="Consolas"/>
              </a:rPr>
              <a:t>вариант 1 — переменная окружения: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onsolas"/>
              </a:rPr>
              <a:t>$  </a:t>
            </a:r>
            <a:r>
              <a:rPr sz="1250">
                <a:solidFill>
                  <a:srgbClr val="2A9D8F"/>
                </a:solidFill>
                <a:latin typeface="Consolas"/>
              </a:rPr>
              <a:t>export CLAUDE_CODE_PROMPT_CACHE_TTL=1h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>
                <a:solidFill>
                  <a:srgbClr val="9AA3C2"/>
                </a:solidFill>
                <a:latin typeface="Consolas"/>
              </a:rPr>
              <a:t>вариант 2 — .claude/settings.json: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{ "promptCacheTtl": "1h" 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06240"/>
            <a:ext cx="10881360" cy="1143000"/>
          </a:xfrm>
          <a:prstGeom prst="rect">
            <a:avLst/>
          </a:prstGeom>
          <a:solidFill>
            <a:srgbClr val="0D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206240"/>
            <a:ext cx="10881360" cy="292608"/>
          </a:xfrm>
          <a:prstGeom prst="rect">
            <a:avLst/>
          </a:prstGeom>
          <a:solidFill>
            <a:srgbClr val="1E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297680"/>
            <a:ext cx="109728" cy="10972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8408" y="4297680"/>
            <a:ext cx="109728" cy="109728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9576" y="4297680"/>
            <a:ext cx="109728" cy="10972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4233672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C2"/>
                </a:solidFill>
                <a:latin typeface="Calibri"/>
              </a:rPr>
              <a:t>TTL для «всего остального» (по умолчанию 5 мин)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626864"/>
            <a:ext cx="1037844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>
                <a:solidFill>
                  <a:srgbClr val="9AA3C2"/>
                </a:solidFill>
                <a:latin typeface="Consolas"/>
              </a:rPr>
              <a:t>для субагентов/форков/workflow — отдельная настройка: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onsolas"/>
              </a:rPr>
              <a:t>$  </a:t>
            </a:r>
            <a:r>
              <a:rPr sz="1250">
                <a:solidFill>
                  <a:srgbClr val="2A9D8F"/>
                </a:solidFill>
                <a:latin typeface="Consolas"/>
              </a:rPr>
              <a:t>export CLAUDE_CODE_SUBAGENT_PROMPT_CACHE_TTL=1h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577840"/>
            <a:ext cx="10881360" cy="7772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69671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4213D"/>
                </a:solidFill>
                <a:latin typeface="Calibri"/>
              </a:rPr>
              <a:t>Компромисс: часовой TTL стоит дороже на запись (1.25× vs 2× премии). Включай только когда паузы реально длиннее 5 минут — иначе чистая переплата без выигрыша.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ТРИГГЕРЫ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Что рвёт кэш и что его не трогает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11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76F51"/>
                </a:solidFill>
                <a:latin typeface="Calibri"/>
              </a:rPr>
              <a:t>РВЁТ КЭШ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НЕ ТРОГАЕТ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148840"/>
            <a:ext cx="310896" cy="3108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Смена модели/effort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78024"/>
            <a:ext cx="5029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у каждой пары свой кэш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990088"/>
            <a:ext cx="310896" cy="3108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6265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Включение fast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19272"/>
            <a:ext cx="5029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разово за сессию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831336"/>
            <a:ext cx="310896" cy="3108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0390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MCP-коннект/дисконнект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60520"/>
            <a:ext cx="5029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если tools НЕ deferred (по умолчанию — deferred)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672584"/>
            <a:ext cx="310896" cy="3108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4515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Deny на весь инструмент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001768"/>
            <a:ext cx="5029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Bash, WebFetch, "*" целиком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513832"/>
            <a:ext cx="310896" cy="3108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4864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/compact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843016"/>
            <a:ext cx="5029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рвёт слой переписки; system+project переживают</a:t>
            </a:r>
          </a:p>
        </p:txBody>
      </p:sp>
      <p:sp>
        <p:nvSpPr>
          <p:cNvPr id="24" name="Oval 23"/>
          <p:cNvSpPr/>
          <p:nvPr/>
        </p:nvSpPr>
        <p:spPr>
          <a:xfrm>
            <a:off x="6309360" y="2148840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12140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Правки файлов в репозитории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478024"/>
            <a:ext cx="5029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входят в контекст только при следующем чтении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2990088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96265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Правка CLAUDE.md посреди сессии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319272"/>
            <a:ext cx="5029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просто не применится до /clear</a:t>
            </a:r>
          </a:p>
        </p:txBody>
      </p:sp>
      <p:sp>
        <p:nvSpPr>
          <p:cNvPr id="30" name="Oval 29"/>
          <p:cNvSpPr/>
          <p:nvPr/>
        </p:nvSpPr>
        <p:spPr>
          <a:xfrm>
            <a:off x="6309360" y="3831336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80390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Вызов skills / slash-команд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160520"/>
            <a:ext cx="5029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дописываются в конец, не трогают префикс</a:t>
            </a:r>
          </a:p>
        </p:txBody>
      </p:sp>
      <p:sp>
        <p:nvSpPr>
          <p:cNvPr id="33" name="Oval 32"/>
          <p:cNvSpPr/>
          <p:nvPr/>
        </p:nvSpPr>
        <p:spPr>
          <a:xfrm>
            <a:off x="6309360" y="4672584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4515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/recap и /rewind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001768"/>
            <a:ext cx="5029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вывод команды / откат на уже закэшированный префикс</a:t>
            </a:r>
          </a:p>
        </p:txBody>
      </p:sp>
      <p:sp>
        <p:nvSpPr>
          <p:cNvPr id="36" name="Oval 35"/>
          <p:cNvSpPr/>
          <p:nvPr/>
        </p:nvSpPr>
        <p:spPr>
          <a:xfrm>
            <a:off x="6309360" y="5513832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54864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Спавн обычного subagent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843016"/>
            <a:ext cx="5029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кэш родителя остаётся нетронутым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ИНСТРУМЕНТЫ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Fork vs обычный Subagent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12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257800" cy="548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FORK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5257800" cy="33832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47091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350">
                <a:solidFill>
                  <a:srgbClr val="FCA311"/>
                </a:solidFill>
                <a:latin typeface="Calibri"/>
              </a:rPr>
              <a:t>●  </a:t>
            </a:r>
            <a:r>
              <a:rPr sz="1350" b="1">
                <a:solidFill>
                  <a:srgbClr val="1B1F2A"/>
                </a:solidFill>
                <a:latin typeface="Calibri"/>
              </a:rPr>
              <a:t>Наследует</a:t>
            </a:r>
            <a:r>
              <a:rPr sz="1350">
                <a:solidFill>
                  <a:srgbClr val="1B1F2A"/>
                </a:solidFill>
                <a:latin typeface="Calibri"/>
              </a:rPr>
              <a:t> system prompt + tools + всю историю родителя байт-в-байт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350">
                <a:solidFill>
                  <a:srgbClr val="FCA311"/>
                </a:solidFill>
                <a:latin typeface="Calibri"/>
              </a:rPr>
              <a:t>●  </a:t>
            </a:r>
            <a:r>
              <a:rPr sz="1350" b="1">
                <a:solidFill>
                  <a:srgbClr val="1B1F2A"/>
                </a:solidFill>
                <a:latin typeface="Calibri"/>
              </a:rPr>
              <a:t>Первый запрос</a:t>
            </a:r>
            <a:r>
              <a:rPr sz="1350">
                <a:solidFill>
                  <a:srgbClr val="1B1F2A"/>
                </a:solidFill>
                <a:latin typeface="Calibri"/>
              </a:rPr>
              <a:t> читает кэш родителя → дешевле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350">
                <a:solidFill>
                  <a:srgbClr val="FCA311"/>
                </a:solidFill>
                <a:latin typeface="Calibri"/>
              </a:rPr>
              <a:t>●  </a:t>
            </a:r>
            <a:r>
              <a:rPr sz="1350" b="1">
                <a:solidFill>
                  <a:srgbClr val="1B1F2A"/>
                </a:solidFill>
                <a:latin typeface="Calibri"/>
              </a:rPr>
              <a:t>Использовать когда:</a:t>
            </a:r>
            <a:r>
              <a:rPr sz="1350">
                <a:solidFill>
                  <a:srgbClr val="1B1F2A"/>
                </a:solidFill>
                <a:latin typeface="Calibri"/>
              </a:rPr>
              <a:t> субагенту нужен тот же контекст, что уже накоплен в диалоге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350">
                <a:solidFill>
                  <a:srgbClr val="FCA311"/>
                </a:solidFill>
                <a:latin typeface="Calibri"/>
              </a:rPr>
              <a:t>●  </a:t>
            </a:r>
            <a:r>
              <a:rPr sz="1350" b="1">
                <a:solidFill>
                  <a:srgbClr val="1B1F2A"/>
                </a:solidFill>
                <a:latin typeface="Calibri"/>
              </a:rPr>
              <a:t>Живой пример:</a:t>
            </a:r>
            <a:r>
              <a:rPr sz="1350">
                <a:solidFill>
                  <a:srgbClr val="1B1F2A"/>
                </a:solidFill>
                <a:latin typeface="Calibri"/>
              </a:rPr>
              <a:t> «форкни диалог и на основе всего проанализированного набросай ТС»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5257800" cy="5486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0195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ОБЫЧНЫЙ SUBAGENT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331720"/>
            <a:ext cx="5257800" cy="33832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560320"/>
            <a:ext cx="47091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350">
                <a:solidFill>
                  <a:srgbClr val="FCA311"/>
                </a:solidFill>
                <a:latin typeface="Calibri"/>
              </a:rPr>
              <a:t>●  </a:t>
            </a:r>
            <a:r>
              <a:rPr sz="1350" b="1">
                <a:solidFill>
                  <a:srgbClr val="1B1F2A"/>
                </a:solidFill>
                <a:latin typeface="Calibri"/>
              </a:rPr>
              <a:t>Стартует</a:t>
            </a:r>
            <a:r>
              <a:rPr sz="1350">
                <a:solidFill>
                  <a:srgbClr val="1B1F2A"/>
                </a:solidFill>
                <a:latin typeface="Calibri"/>
              </a:rPr>
              <a:t> свой отдельный system prompt и диалог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350">
                <a:solidFill>
                  <a:srgbClr val="FCA311"/>
                </a:solidFill>
                <a:latin typeface="Calibri"/>
              </a:rPr>
              <a:t>●  </a:t>
            </a:r>
            <a:r>
              <a:rPr sz="1350" b="1">
                <a:solidFill>
                  <a:srgbClr val="1B1F2A"/>
                </a:solidFill>
                <a:latin typeface="Calibri"/>
              </a:rPr>
              <a:t>Первый запрос</a:t>
            </a:r>
            <a:r>
              <a:rPr sz="1350">
                <a:solidFill>
                  <a:srgbClr val="1B1F2A"/>
                </a:solidFill>
                <a:latin typeface="Calibri"/>
              </a:rPr>
              <a:t> идёт по полной цене — кэш строится с нуля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350">
                <a:solidFill>
                  <a:srgbClr val="FCA311"/>
                </a:solidFill>
                <a:latin typeface="Calibri"/>
              </a:rPr>
              <a:t>●  </a:t>
            </a:r>
            <a:r>
              <a:rPr sz="1350" b="1">
                <a:solidFill>
                  <a:srgbClr val="1B1F2A"/>
                </a:solidFill>
                <a:latin typeface="Calibri"/>
              </a:rPr>
              <a:t>Использовать когда:</a:t>
            </a:r>
            <a:r>
              <a:rPr sz="1350">
                <a:solidFill>
                  <a:srgbClr val="1B1F2A"/>
                </a:solidFill>
                <a:latin typeface="Calibri"/>
              </a:rPr>
              <a:t> задача изолированная, история диалога не нужна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350">
                <a:solidFill>
                  <a:srgbClr val="FCA311"/>
                </a:solidFill>
                <a:latin typeface="Calibri"/>
              </a:rPr>
              <a:t>●  </a:t>
            </a:r>
            <a:r>
              <a:rPr sz="1350" b="1">
                <a:solidFill>
                  <a:srgbClr val="1B1F2A"/>
                </a:solidFill>
                <a:latin typeface="Calibri"/>
              </a:rPr>
              <a:t>Живой пример:</a:t>
            </a:r>
            <a:r>
              <a:rPr sz="1350">
                <a:solidFill>
                  <a:srgbClr val="1B1F2A"/>
                </a:solidFill>
                <a:latin typeface="Calibri"/>
              </a:rPr>
              <a:t> «изучи Bruno-коллекцию модуля X и вытащи список эндпоинтов»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ФУНДАМЕНТ №2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Сессия — единица работы, не журнал дня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13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3454298" cy="5029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92224"/>
            <a:ext cx="30885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ЧТО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3454298" cy="27432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404872"/>
            <a:ext cx="3051962" cy="2350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30" b="0" i="0">
                <a:solidFill>
                  <a:srgbClr val="1B1F2A"/>
                </a:solidFill>
                <a:latin typeface="Calibri"/>
              </a:rPr>
              <a:t>Сессия — один непрерывный разговор с одним system prompt и одной растущей историей.</a:t>
            </a:r>
          </a:p>
          <a:p>
            <a:pPr algn="l">
              <a:lnSpc>
                <a:spcPct val="128000"/>
              </a:lnSpc>
            </a:pPr>
            <a:r>
              <a:rPr sz="1230" b="0" i="0">
                <a:solidFill>
                  <a:srgbClr val="1B1F2A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230" b="0" i="0">
                <a:solidFill>
                  <a:srgbClr val="1B1F2A"/>
                </a:solidFill>
                <a:latin typeface="Calibri"/>
              </a:rPr>
              <a:t>Она физически привязана к машине и рабочей директории — кэш сессии не делится между разными папками/воркtree, даже на одной машине.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698" y="1691640"/>
            <a:ext cx="3454298" cy="5029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1578" y="1792224"/>
            <a:ext cx="30885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ЗАЧЕМ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698" y="2194560"/>
            <a:ext cx="3454298" cy="27432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9866" y="2404872"/>
            <a:ext cx="3051962" cy="2350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30" b="0" i="0">
                <a:solidFill>
                  <a:srgbClr val="1B1F2A"/>
                </a:solidFill>
                <a:latin typeface="Calibri"/>
              </a:rPr>
              <a:t>Сессия — естественная граница сразу для трёх вещей: качества (контекстное окно), скорости/цены (кэш) и фокуса (несвязанный контекст путает модель и стоит денег на каждом следующем ходе).</a:t>
            </a:r>
          </a:p>
          <a:p>
            <a:pPr algn="l">
              <a:lnSpc>
                <a:spcPct val="128000"/>
              </a:lnSpc>
            </a:pPr>
            <a:r>
              <a:rPr sz="1230" b="0" i="0">
                <a:solidFill>
                  <a:srgbClr val="1B1F2A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230" b="0" i="0">
                <a:solidFill>
                  <a:srgbClr val="1B1F2A"/>
                </a:solidFill>
                <a:latin typeface="Calibri"/>
              </a:rPr>
              <a:t>Одна раздутая сессия бьёт по всем трём сразу.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7316" y="1691640"/>
            <a:ext cx="3454298" cy="5029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0196" y="1792224"/>
            <a:ext cx="30885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КАК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7316" y="2194560"/>
            <a:ext cx="3454298" cy="27432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8484" y="2404872"/>
            <a:ext cx="3051962" cy="2350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30" b="0" i="0">
                <a:solidFill>
                  <a:srgbClr val="1B1F2A"/>
                </a:solidFill>
                <a:latin typeface="Calibri"/>
              </a:rPr>
              <a:t>Одна сессия = одна связная единица работы — по-хорошему один тикет или один вопрос, не «всё, что накопилось за день».</a:t>
            </a:r>
          </a:p>
          <a:p>
            <a:pPr algn="l">
              <a:lnSpc>
                <a:spcPct val="128000"/>
              </a:lnSpc>
            </a:pPr>
            <a:r>
              <a:rPr sz="1230" b="0" i="0">
                <a:solidFill>
                  <a:srgbClr val="1B1F2A"/>
                </a:solidFill>
                <a:latin typeface="Calibri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230" b="0" i="0">
                <a:solidFill>
                  <a:srgbClr val="1B1F2A"/>
                </a:solidFill>
                <a:latin typeface="Calibri"/>
              </a:rPr>
              <a:t>Конкретные команды управления сессией — на слайде «Сессии на практике» в следующей части.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663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5B6277"/>
                </a:solidFill>
                <a:latin typeface="Calibri"/>
              </a:rPr>
              <a:t>Из документации: «кэш эффективно ограничен одной машиной и директорией — две сессии в разных папках строят разные префиксы и не видят кэш друг друга, даже worktree одного и того же репозитория».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ПОДХОДЫ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Какой инструмент выбрать для задачи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14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881360" cy="420623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40480"/>
                <a:gridCol w="2926080"/>
                <a:gridCol w="4114800"/>
              </a:tblGrid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Тип задачи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Подход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Почему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Правка на одну строку, diff описывается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одним предложением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Делай прямо, без плана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Планирование — чистый оверхед,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когда результат уже очевиден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Многофайловая или неочевидная задача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Plan mode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(Explore → Plan → Implement)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Предотвращает решение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неправильной проблемы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Тяжёлое чтение (логи, доки, чужой код),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результат не нужен целиком в истории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Subagent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Держит основной контекст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чистым — засоряется только изолированный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Продолжение того же анализа под другим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углом, нужен уже накопленный контекст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Fork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Первый запрос читает кэш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родителя — дешевле и последовательнее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Массовая однотипная работа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по многим файлам/тикетам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non-interactive `-p` в цикле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или /batch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Параллелизация без раздувания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одной сессии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Перед тем как считать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задачу готовой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Adversarial review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свежим субагентом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Автор не может объективно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проверить свою же работу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CA311"/>
                </a:solidFill>
                <a:latin typeface="Calibri"/>
              </a:rPr>
              <a:t>ЧАСТЬ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Общие best practices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94760"/>
            <a:ext cx="777240" cy="381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041648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C7CEE8"/>
                </a:solidFill>
                <a:latin typeface="Calibri"/>
              </a:rPr>
              <a:t>Как работать с ИИ эффективно — применимо к любой роли, не только к 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C2"/>
                </a:solidFill>
                <a:latin typeface="Calibri"/>
              </a:rPr>
              <a:t>15 / 43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ПРАКТИКА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Explore → Plan → Implement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16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2624328" cy="17373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2624328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01952"/>
            <a:ext cx="22585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CA311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2258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Explore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22585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B6277"/>
                </a:solidFill>
                <a:latin typeface="Calibri"/>
              </a:rPr>
              <a:t>Plan mode: Claude читает файлы</a:t>
            </a:r>
          </a:p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B6277"/>
                </a:solidFill>
                <a:latin typeface="Calibri"/>
              </a:rPr>
              <a:t>и отвечает на вопросы, ничего не меняя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2" y="1737360"/>
            <a:ext cx="2624328" cy="17373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1737360"/>
            <a:ext cx="2624328" cy="54864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901952"/>
            <a:ext cx="22585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CA311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240280"/>
            <a:ext cx="2258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606040"/>
            <a:ext cx="22585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B6277"/>
                </a:solidFill>
                <a:latin typeface="Calibri"/>
              </a:rPr>
              <a:t>Просишь детальный план;</a:t>
            </a:r>
          </a:p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B6277"/>
                </a:solidFill>
                <a:latin typeface="Calibri"/>
              </a:rPr>
              <a:t>Ctrl+G — редактируешь план в редакторе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1737360"/>
            <a:ext cx="2624328" cy="17373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1737360"/>
            <a:ext cx="2624328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1901952"/>
            <a:ext cx="22585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CA311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240280"/>
            <a:ext cx="2258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Implement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606040"/>
            <a:ext cx="22585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B6277"/>
                </a:solidFill>
                <a:latin typeface="Calibri"/>
              </a:rPr>
              <a:t>Выходишь из plan mode,</a:t>
            </a:r>
          </a:p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B6277"/>
                </a:solidFill>
                <a:latin typeface="Calibri"/>
              </a:rPr>
              <a:t>Claude кодирует и проверяет по плану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51976" y="1737360"/>
            <a:ext cx="2624328" cy="17373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51976" y="1737360"/>
            <a:ext cx="2624328" cy="54864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1901952"/>
            <a:ext cx="22585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CA311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2240280"/>
            <a:ext cx="2258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Commit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6" y="2606040"/>
            <a:ext cx="22585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B6277"/>
                </a:solidFill>
                <a:latin typeface="Calibri"/>
              </a:rPr>
              <a:t>Просишь осмысленный коммит и PR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749039"/>
            <a:ext cx="10881360" cy="2331720"/>
          </a:xfrm>
          <a:prstGeom prst="rect">
            <a:avLst/>
          </a:prstGeom>
          <a:solidFill>
            <a:srgbClr val="0D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749039"/>
            <a:ext cx="10881360" cy="292608"/>
          </a:xfrm>
          <a:prstGeom prst="rect">
            <a:avLst/>
          </a:prstGeom>
          <a:solidFill>
            <a:srgbClr val="1E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7240" y="3840479"/>
            <a:ext cx="109728" cy="10972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8408" y="3840479"/>
            <a:ext cx="109728" cy="109728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79576" y="3840479"/>
            <a:ext cx="109728" cy="10972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3776471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C2"/>
                </a:solidFill>
                <a:latin typeface="Calibri"/>
              </a:rPr>
              <a:t>claude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169663"/>
            <a:ext cx="10378440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onsolas"/>
              </a:rPr>
              <a:t>TB-1533:  </a:t>
            </a:r>
            <a:r>
              <a:rPr sz="1250">
                <a:solidFill>
                  <a:srgbClr val="E0E3EF"/>
                </a:solidFill>
                <a:latin typeface="Consolas"/>
              </a:rPr>
              <a:t>«объясни каждую находку — точный file:line, механизм, почему это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>
                <a:solidFill>
                  <a:srgbClr val="E0E3EF"/>
                </a:solidFill>
                <a:latin typeface="Consolas"/>
              </a:rPr>
              <a:t>важно — прежде чем трогать код»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onsolas"/>
              </a:rPr>
              <a:t>→  </a:t>
            </a:r>
            <a:r>
              <a:rPr sz="1250">
                <a:solidFill>
                  <a:srgbClr val="FFFFFF"/>
                </a:solidFill>
                <a:latin typeface="Consolas"/>
              </a:rPr>
              <a:t>найдены 2 реальные проблемы: self-comparison assertion bug в TC-48/TC-141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и auth-bypass в getPlugin() — с объяснением до правки, пользователь сам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выбрал вариант фикса с меньшим blast radius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onsolas"/>
              </a:rPr>
              <a:t>Правило:  </a:t>
            </a:r>
            <a:r>
              <a:rPr sz="1250">
                <a:solidFill>
                  <a:srgbClr val="FCA311"/>
                </a:solidFill>
                <a:latin typeface="Consolas"/>
              </a:rPr>
              <a:t>если diff можно описать одним предложением — планирование не нужно, делай сразу.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ПРАКТИКА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Конкретные промпты — примеры из наших тикетов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17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881359" cy="4160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03119"/>
                <a:gridCol w="3291840"/>
                <a:gridCol w="5486400"/>
              </a:tblGrid>
              <a:tr h="8321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Приём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До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После — что реально сработало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Задай рамки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(TB-2179)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разберись с курсами валют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по этому тикету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сначала Confluence (что должно быть) → потом Bruno+DB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(что реально построено) → потом existing доки → вердикт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автоматизируемо/нет → и только потом код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Укажи источник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(TB-2179)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почему TC-01 стучится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в GET /pricing/rate?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сверь сигнатуру кейса с Confluence US-01.13.03 и с реальным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Bruno-контрактом Currency Engine перед тем как чинить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Сошлись на паттерном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(TB-1533)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почему getPlugin() у нас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такой странный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посмотри, как остальные assert-хелперы этого модуля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лежат в *-test-helper.ts, не в клиенте — перенеси по этому же паттерну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Опиши симптом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(TB-2034)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тесты иногда падают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на QA-группе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BaseApiClient жжёт 80 silent retries (~4 мин) на GET .../definitions,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30">
                          <a:solidFill>
                            <a:srgbClr val="1B1F2A"/>
                          </a:solidFill>
                          <a:latin typeface="Calibri"/>
                        </a:rPr>
                        <a:t>плюс Timeout waiting for Postgres schemas — вот лог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0350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277"/>
                </a:solidFill>
                <a:latin typeface="Calibri"/>
              </a:rPr>
              <a:t>Реальные результаты: TB-2179 вскрыл 3-стороннее расхождение контракта (BA-спека / кейс / реальный API); TB-2034 — пропущенную проверку готовности пода, найденную прямым чтением кода.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ПРАКТИКА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Не пересказывай — покажи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18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700">
                <a:solidFill>
                  <a:srgbClr val="FCA311"/>
                </a:solidFill>
                <a:latin typeface="Calibri"/>
              </a:rPr>
              <a:t>●  </a:t>
            </a:r>
            <a:r>
              <a:rPr sz="1700" b="1">
                <a:solidFill>
                  <a:srgbClr val="1B1F2A"/>
                </a:solidFill>
                <a:latin typeface="Calibri"/>
              </a:rPr>
              <a:t>@файл</a:t>
            </a:r>
            <a:r>
              <a:rPr sz="1700">
                <a:solidFill>
                  <a:srgbClr val="1B1F2A"/>
                </a:solidFill>
                <a:latin typeface="Calibri"/>
              </a:rPr>
              <a:t> вместо описания «где лежит код» — Claude прочитает файл сам, точнее и короче твоего пересказа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700">
                <a:solidFill>
                  <a:srgbClr val="FCA311"/>
                </a:solidFill>
                <a:latin typeface="Calibri"/>
              </a:rPr>
              <a:t>●  </a:t>
            </a:r>
            <a:r>
              <a:rPr sz="1700" b="1">
                <a:solidFill>
                  <a:srgbClr val="1B1F2A"/>
                </a:solidFill>
                <a:latin typeface="Calibri"/>
              </a:rPr>
              <a:t>Скриншот / картинка</a:t>
            </a:r>
            <a:r>
              <a:rPr sz="1700">
                <a:solidFill>
                  <a:srgbClr val="1B1F2A"/>
                </a:solidFill>
                <a:latin typeface="Calibri"/>
              </a:rPr>
              <a:t> — вставь прямо в промпт: сравнение UI, ошибка на экране, что тут долго объяснять словами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700">
                <a:solidFill>
                  <a:srgbClr val="FCA311"/>
                </a:solidFill>
                <a:latin typeface="Calibri"/>
              </a:rPr>
              <a:t>●  </a:t>
            </a:r>
            <a:r>
              <a:rPr sz="1700" b="1">
                <a:solidFill>
                  <a:srgbClr val="1B1F2A"/>
                </a:solidFill>
                <a:latin typeface="Calibri"/>
              </a:rPr>
              <a:t>Ссылки на документацию</a:t>
            </a:r>
            <a:r>
              <a:rPr sz="1700">
                <a:solidFill>
                  <a:srgbClr val="1B1F2A"/>
                </a:solidFill>
                <a:latin typeface="Calibri"/>
              </a:rPr>
              <a:t> — добавь домен в /permissions allowlist один раз, чтобы не спрашивало разрешение каждый раз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700">
                <a:solidFill>
                  <a:srgbClr val="FCA311"/>
                </a:solidFill>
                <a:latin typeface="Calibri"/>
              </a:rPr>
              <a:t>●  </a:t>
            </a:r>
            <a:r>
              <a:rPr sz="1700" b="1">
                <a:solidFill>
                  <a:srgbClr val="1B1F2A"/>
                </a:solidFill>
                <a:latin typeface="Calibri"/>
              </a:rPr>
              <a:t>cat error.log | claude</a:t>
            </a:r>
            <a:r>
              <a:rPr sz="1700">
                <a:solidFill>
                  <a:srgbClr val="1B1F2A"/>
                </a:solidFill>
                <a:latin typeface="Calibri"/>
              </a:rPr>
              <a:t> — подай данные потоком, а не пересказом «там ошибка про таймаут»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700">
                <a:solidFill>
                  <a:srgbClr val="FCA311"/>
                </a:solidFill>
                <a:latin typeface="Calibri"/>
              </a:rPr>
              <a:t>●  </a:t>
            </a:r>
            <a:r>
              <a:rPr sz="1700" b="1">
                <a:solidFill>
                  <a:srgbClr val="1B1F2A"/>
                </a:solidFill>
                <a:latin typeface="Calibri"/>
              </a:rPr>
              <a:t>«Найди это сам»</a:t>
            </a:r>
            <a:r>
              <a:rPr sz="1700">
                <a:solidFill>
                  <a:srgbClr val="1B1F2A"/>
                </a:solidFill>
                <a:latin typeface="Calibri"/>
              </a:rPr>
              <a:t> — Claude может сам прочитать файлы или дёрнуть MCP-тул; не обязательно готовить контекст руками заранее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СЕССИИ НА ПРАКТИКЕ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Не грузи все вопросы в одну сессию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19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1792224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/clear между несвязанными задачами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157984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застрявший в истории контекст стоит денег на каждом следующем ходе — даже кэш-тариф не бесплатен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24912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2688336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Правило двух попыток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3054096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исправил Claude 2 раза по одному и тому же — не продолжай третью попытку: /clear и перепиши промпт с учётом того, что уже понял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21024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3584448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/compact — на границах задач, не посреди работы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3950208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можно с инструкцией: /compact сохрани список тест-кейсов и открытые вопросы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517136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4480559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/rewind вместо /compact, если просто хочешь откатить неудачный путь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4846320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rewind попадает на уже закэшированный префикс — дешевле и быстрее, чем строить новый через compact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413248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5376672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/rename + /resume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5742432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именуй сессию по тикету (TB-2179-currency) — возвращайся позже без пересказа контекста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ПРАВИЛА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Всегда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20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9222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Явно проверяй результат — тесты, скрин, чек-лист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31136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B6277"/>
                </a:solidFill>
                <a:latin typeface="Calibri"/>
              </a:rPr>
              <a:t>почему: «выглядит готовым» не значит «готово»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46120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20954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Планируй перед многофайловой или неочевидной правкой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648456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B6277"/>
                </a:solidFill>
                <a:latin typeface="Calibri"/>
              </a:rPr>
              <a:t>почему: пауза на план дешевле целого неверного пути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62686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Указывай источник/паттерн вместо пересказа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5065776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B6277"/>
                </a:solidFill>
                <a:latin typeface="Calibri"/>
              </a:rPr>
              <a:t>почему: @файл/ссылка точнее слов и не тратит контекст на перевод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1828800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179222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Держи модель/effort одной на всю задачу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2231136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B6277"/>
                </a:solidFill>
                <a:latin typeface="Calibri"/>
              </a:rPr>
              <a:t>почему: переключение посреди работы — полный промах кэша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3246120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320954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Делегируй тяжёлое чтение субагентам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648456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B6277"/>
                </a:solidFill>
                <a:latin typeface="Calibri"/>
              </a:rPr>
              <a:t>почему: решения остаются в основном контексте, не сырые логи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4663440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462686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Именуй и закрывай сессии осознанно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5065776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B6277"/>
                </a:solidFill>
                <a:latin typeface="Calibri"/>
              </a:rPr>
              <a:t>почему: /rename, /clear — сессия это единица работы, не журнал дня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ПРАВИЛА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Никогда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21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310896" cy="3108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9222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4213D"/>
                </a:solidFill>
                <a:latin typeface="Calibri"/>
              </a:rPr>
              <a:t>Не проси угадать при неоднозначности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31136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 i="1">
                <a:solidFill>
                  <a:srgbClr val="5B6277"/>
                </a:solidFill>
                <a:latin typeface="Calibri"/>
              </a:rPr>
              <a:t>почему: выдумка дороже честного открытого вопроса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44368"/>
            <a:ext cx="310896" cy="3108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907791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4213D"/>
                </a:solidFill>
                <a:latin typeface="Calibri"/>
              </a:rPr>
              <a:t>Не отключай верификацию/хуки «для скорости»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346703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 i="1">
                <a:solidFill>
                  <a:srgbClr val="5B6277"/>
                </a:solidFill>
                <a:latin typeface="Calibri"/>
              </a:rPr>
              <a:t>почему: они существуют, потому что поймали настоящий баг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059935"/>
            <a:ext cx="310896" cy="3108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02335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4213D"/>
                </a:solidFill>
                <a:latin typeface="Calibri"/>
              </a:rPr>
              <a:t>Не смешивай несвязанные задачи в одной сессии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62272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 i="1">
                <a:solidFill>
                  <a:srgbClr val="5B6277"/>
                </a:solidFill>
                <a:latin typeface="Calibri"/>
              </a:rPr>
              <a:t>почему: контекст одной снижает точность на другой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175503"/>
            <a:ext cx="310896" cy="3108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138927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4213D"/>
                </a:solidFill>
                <a:latin typeface="Calibri"/>
              </a:rPr>
              <a:t>Не переключай модель/effort без явной причины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557784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 i="1">
                <a:solidFill>
                  <a:srgbClr val="5B6277"/>
                </a:solidFill>
                <a:latin typeface="Calibri"/>
              </a:rPr>
              <a:t>почему: каждое переключение — полный пересчёт кэша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1828800"/>
            <a:ext cx="310896" cy="3108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79222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4213D"/>
                </a:solidFill>
                <a:latin typeface="Calibri"/>
              </a:rPr>
              <a:t>Не давай автору проверять самого себя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2231136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 i="1">
                <a:solidFill>
                  <a:srgbClr val="5B6277"/>
                </a:solidFill>
                <a:latin typeface="Calibri"/>
              </a:rPr>
              <a:t>почему: нужен свежий взгляд без confirmation bias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2944368"/>
            <a:ext cx="310896" cy="3108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2907791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4213D"/>
                </a:solidFill>
                <a:latin typeface="Calibri"/>
              </a:rPr>
              <a:t>Не автоматизируй код по кейсу без ревью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3346703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 i="1">
                <a:solidFill>
                  <a:srgbClr val="5B6277"/>
                </a:solidFill>
                <a:latin typeface="Calibri"/>
              </a:rPr>
              <a:t>почему: риск закодировать пробел в вечно «зелёный» тест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4059935"/>
            <a:ext cx="310896" cy="3108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402335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4213D"/>
                </a:solidFill>
                <a:latin typeface="Calibri"/>
              </a:rPr>
              <a:t>Не оставляй находку без явного действия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4462272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 i="1">
                <a:solidFill>
                  <a:srgbClr val="5B6277"/>
                </a:solidFill>
                <a:latin typeface="Calibri"/>
              </a:rPr>
              <a:t>почему: скрытый фикс хуже зафиксированного открытого вопроса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ПРАКТИКА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Субагенты и форки в деле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22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Основной контекст — для решений, не для чтения. Реальные примеры из наших сессий: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10881360" cy="1417320"/>
          </a:xfrm>
          <a:prstGeom prst="rect">
            <a:avLst/>
          </a:prstGeom>
          <a:solidFill>
            <a:srgbClr val="0D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10881360" cy="292608"/>
          </a:xfrm>
          <a:prstGeom prst="rect">
            <a:avLst/>
          </a:prstGeom>
          <a:solidFill>
            <a:srgbClr val="1E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240280"/>
            <a:ext cx="109728" cy="10972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8408" y="2240280"/>
            <a:ext cx="109728" cy="109728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9576" y="2240280"/>
            <a:ext cx="109728" cy="10972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176272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C2"/>
                </a:solidFill>
                <a:latin typeface="Calibri"/>
              </a:rPr>
              <a:t>subagent · re-review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569464"/>
            <a:ext cx="10378440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onsolas"/>
              </a:rPr>
              <a:t>&gt;  </a:t>
            </a:r>
            <a:r>
              <a:rPr sz="1250">
                <a:solidFill>
                  <a:srgbClr val="FFFFFF"/>
                </a:solidFill>
                <a:latin typeface="Consolas"/>
              </a:rPr>
              <a:t>TB-1533: перепроверь все 16 пунктов review-находок против текущего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состояния ветки — subagent-верификация, каждый вердикт потом сверен вручную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49039"/>
            <a:ext cx="10881360" cy="1417320"/>
          </a:xfrm>
          <a:prstGeom prst="rect">
            <a:avLst/>
          </a:prstGeom>
          <a:solidFill>
            <a:srgbClr val="0D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49039"/>
            <a:ext cx="10881360" cy="292608"/>
          </a:xfrm>
          <a:prstGeom prst="rect">
            <a:avLst/>
          </a:prstGeom>
          <a:solidFill>
            <a:srgbClr val="1E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3840479"/>
            <a:ext cx="109728" cy="10972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8408" y="3840479"/>
            <a:ext cx="109728" cy="109728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9576" y="3840479"/>
            <a:ext cx="109728" cy="10972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3776471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C2"/>
                </a:solidFill>
                <a:latin typeface="Calibri"/>
              </a:rPr>
              <a:t>fork · draft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169663"/>
            <a:ext cx="10378440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onsolas"/>
              </a:rPr>
              <a:t>&gt;  </a:t>
            </a:r>
            <a:r>
              <a:rPr sz="1250">
                <a:solidFill>
                  <a:srgbClr val="FFFFFF"/>
                </a:solidFill>
                <a:latin typeface="Consolas"/>
              </a:rPr>
              <a:t>TB-2179: форкни диалог и на основе разбора контракт-дрифта US-01.13.03,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который мы только что сделали, оформи три вопроса для Viktoriya (manual QA)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9496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>
                <a:solidFill>
                  <a:srgbClr val="FCA311"/>
                </a:solidFill>
                <a:latin typeface="Calibri"/>
              </a:rPr>
              <a:t>●  </a:t>
            </a:r>
            <a:r>
              <a:rPr sz="1350" b="1">
                <a:solidFill>
                  <a:srgbClr val="1B1F2A"/>
                </a:solidFill>
                <a:latin typeface="Calibri"/>
              </a:rPr>
              <a:t>Субагент</a:t>
            </a:r>
            <a:r>
              <a:rPr sz="1350">
                <a:solidFill>
                  <a:srgbClr val="1B1F2A"/>
                </a:solidFill>
                <a:latin typeface="Calibri"/>
              </a:rPr>
              <a:t> — когда задача изолирована и не нужна история диалога (перепроверка находок с нуля).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50">
                <a:solidFill>
                  <a:srgbClr val="FCA311"/>
                </a:solidFill>
                <a:latin typeface="Calibri"/>
              </a:rPr>
              <a:t>●  </a:t>
            </a:r>
            <a:r>
              <a:rPr sz="1350" b="1">
                <a:solidFill>
                  <a:srgbClr val="1B1F2A"/>
                </a:solidFill>
                <a:latin typeface="Calibri"/>
              </a:rPr>
              <a:t>Форк</a:t>
            </a:r>
            <a:r>
              <a:rPr sz="1350">
                <a:solidFill>
                  <a:srgbClr val="1B1F2A"/>
                </a:solidFill>
                <a:latin typeface="Calibri"/>
              </a:rPr>
              <a:t> — когда нужен именно тот контекст, что уже накоплен (вопросы выросли из уже сделанного анализа).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ПРАКТИКА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Дисциплина модели и мониторинг расхода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23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МОДЕЛЬ/EFFORT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212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FCA311"/>
                </a:solidFill>
                <a:latin typeface="Calibri"/>
              </a:rPr>
              <a:t>●  </a:t>
            </a:r>
            <a:r>
              <a:rPr sz="1350" b="1">
                <a:solidFill>
                  <a:srgbClr val="1B1F2A"/>
                </a:solidFill>
                <a:latin typeface="Calibri"/>
              </a:rPr>
              <a:t>Выбери модель/effort в начале задачи</a:t>
            </a:r>
            <a:r>
              <a:rPr sz="1350">
                <a:solidFill>
                  <a:srgbClr val="1B1F2A"/>
                </a:solidFill>
                <a:latin typeface="Calibri"/>
              </a:rPr>
              <a:t> и не дёргай посередине — каждое переключение это полный промах кэша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FCA311"/>
                </a:solidFill>
                <a:latin typeface="Calibri"/>
              </a:rPr>
              <a:t>●  </a:t>
            </a:r>
            <a:r>
              <a:rPr sz="1350" b="1">
                <a:solidFill>
                  <a:srgbClr val="1B1F2A"/>
                </a:solidFill>
                <a:latin typeface="Calibri"/>
              </a:rPr>
              <a:t>Sonnet</a:t>
            </a:r>
            <a:r>
              <a:rPr sz="1350">
                <a:solidFill>
                  <a:srgbClr val="1B1F2A"/>
                </a:solidFill>
                <a:latin typeface="Calibri"/>
              </a:rPr>
              <a:t> — по умолчанию для большинства задач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FCA311"/>
                </a:solidFill>
                <a:latin typeface="Calibri"/>
              </a:rPr>
              <a:t>●  </a:t>
            </a:r>
            <a:r>
              <a:rPr sz="1350" b="1">
                <a:solidFill>
                  <a:srgbClr val="1B1F2A"/>
                </a:solidFill>
                <a:latin typeface="Calibri"/>
              </a:rPr>
              <a:t>Opus</a:t>
            </a:r>
            <a:r>
              <a:rPr sz="1350">
                <a:solidFill>
                  <a:srgbClr val="1B1F2A"/>
                </a:solidFill>
                <a:latin typeface="Calibri"/>
              </a:rPr>
              <a:t> — только для одного явно названного сложного случая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FCA311"/>
                </a:solidFill>
                <a:latin typeface="Calibri"/>
              </a:rPr>
              <a:t>●  </a:t>
            </a:r>
            <a:r>
              <a:rPr sz="1350" b="1">
                <a:solidFill>
                  <a:srgbClr val="1B1F2A"/>
                </a:solidFill>
                <a:latin typeface="Calibri"/>
              </a:rPr>
              <a:t>Haiku</a:t>
            </a:r>
            <a:r>
              <a:rPr sz="1350">
                <a:solidFill>
                  <a:srgbClr val="1B1F2A"/>
                </a:solidFill>
                <a:latin typeface="Calibri"/>
              </a:rPr>
              <a:t> — для «сбора» (чтение/фетч), не для вынесения вердикта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916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МОНИТОРИНГ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5212080" cy="3566160"/>
          </a:xfrm>
          <a:prstGeom prst="rect">
            <a:avLst/>
          </a:prstGeom>
          <a:solidFill>
            <a:srgbClr val="0D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103120"/>
            <a:ext cx="5212080" cy="292608"/>
          </a:xfrm>
          <a:prstGeom prst="rect">
            <a:avLst/>
          </a:prstGeom>
          <a:solidFill>
            <a:srgbClr val="1E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194560"/>
            <a:ext cx="109728" cy="10972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47688" y="2194560"/>
            <a:ext cx="109728" cy="109728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48856" y="2194560"/>
            <a:ext cx="109728" cy="10972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130552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C2"/>
                </a:solidFill>
                <a:latin typeface="Calibri"/>
              </a:rPr>
              <a:t>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523744"/>
            <a:ext cx="4709160" cy="2962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onsolas"/>
              </a:rPr>
              <a:t>/usage  </a:t>
            </a:r>
            <a:r>
              <a:rPr sz="1250">
                <a:solidFill>
                  <a:srgbClr val="FFFFFF"/>
                </a:solidFill>
                <a:latin typeface="Consolas"/>
              </a:rPr>
              <a:t>cache_read vs cache_creation — высокий creation на каждом ходе = что-то рвёт префикс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onsolas"/>
              </a:rPr>
              <a:t>/context  </a:t>
            </a:r>
            <a:r>
              <a:rPr sz="1250">
                <a:solidFill>
                  <a:srgbClr val="FFFFFF"/>
                </a:solidFill>
                <a:latin typeface="Consolas"/>
              </a:rPr>
              <a:t>что прямо сейчас ест контекст этой сессии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onsolas"/>
              </a:rPr>
              <a:t>/insights  </a:t>
            </a:r>
            <a:r>
              <a:rPr sz="1250">
                <a:solidFill>
                  <a:srgbClr val="FFFFFF"/>
                </a:solidFill>
                <a:latin typeface="Consolas"/>
              </a:rPr>
              <a:t>HTML-отчёт по последним сессиям (до 200) — что мешает работать эффективно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АНТИ-ПАТТЕРНЫ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Пять способов случайно спалить бюджет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24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310896" cy="3108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01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Kitchen sink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579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→ /clear между несвязанными задачами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88920"/>
            <a:ext cx="310896" cy="3108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614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Бесконечные исправления по кругу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18103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→ после 2 неудачных попыток — /clear и новый промпт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49039"/>
            <a:ext cx="310896" cy="3108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21607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Раздутый CLAUDE.md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7822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→ держи &lt; 200 строк; специфику — в skills, грузится по требованию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800600"/>
            <a:ext cx="310896" cy="3108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731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«Похоже на правду» без проверки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1297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→ всегда давай верификацию: тесты, скрин, чек-лист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760720"/>
            <a:ext cx="310896" cy="3108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7332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Безграничное «исследуй всё»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08990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→ формулируй разведку узко или делегируй субагенту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093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B6277"/>
                </a:solidFill>
                <a:latin typeface="Calibri"/>
              </a:rPr>
              <a:t>Реально сработало (TB-2034): пользователь дважды указал на переусложнённый дизайн self-heal'а — после второй правки решение стало проще и надёжнее, а не «зациклилось».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ПРАКТИКА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Adversarial review перед «готово»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25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1">
                <a:solidFill>
                  <a:srgbClr val="FFFFFF"/>
                </a:solidFill>
                <a:latin typeface="Calibri"/>
              </a:rPr>
              <a:t>Свежий субагент, который видит только диф и критерии — не рассуждения, которые привели к правке — оценивает результат на своих условиях.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213D"/>
                </a:solidFill>
                <a:latin typeface="Calibri"/>
              </a:rPr>
              <a:t>В нашем фреймворке это уже есть как готовый конвейер:</a:t>
            </a:r>
          </a:p>
        </p:txBody>
      </p:sp>
      <p:sp>
        <p:nvSpPr>
          <p:cNvPr id="10" name="Oval 9"/>
          <p:cNvSpPr/>
          <p:nvPr/>
        </p:nvSpPr>
        <p:spPr>
          <a:xfrm>
            <a:off x="1697697" y="3520440"/>
            <a:ext cx="502920" cy="502920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213D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14800"/>
            <a:ext cx="2618155" cy="17373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114800"/>
            <a:ext cx="261815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79392"/>
            <a:ext cx="23986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review-cosmetic-pr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010912"/>
            <a:ext cx="2398699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Косметический слой ревью MR</a:t>
            </a:r>
          </a:p>
        </p:txBody>
      </p:sp>
      <p:sp>
        <p:nvSpPr>
          <p:cNvPr id="15" name="Chevron 14"/>
          <p:cNvSpPr/>
          <p:nvPr/>
        </p:nvSpPr>
        <p:spPr>
          <a:xfrm>
            <a:off x="3267379" y="4800600"/>
            <a:ext cx="128016" cy="365760"/>
          </a:xfrm>
          <a:prstGeom prst="chevron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62157" y="3520440"/>
            <a:ext cx="502920" cy="502920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213D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4539" y="4114800"/>
            <a:ext cx="2618155" cy="17373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4539" y="4114800"/>
            <a:ext cx="261815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4267" y="4279392"/>
            <a:ext cx="23986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review-logical-pr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4267" y="5010912"/>
            <a:ext cx="2398699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Логический слой ревью MR</a:t>
            </a:r>
          </a:p>
        </p:txBody>
      </p:sp>
      <p:sp>
        <p:nvSpPr>
          <p:cNvPr id="21" name="Chevron 20"/>
          <p:cNvSpPr/>
          <p:nvPr/>
        </p:nvSpPr>
        <p:spPr>
          <a:xfrm>
            <a:off x="6031839" y="4800600"/>
            <a:ext cx="128016" cy="365760"/>
          </a:xfrm>
          <a:prstGeom prst="chevron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6617" y="3520440"/>
            <a:ext cx="502920" cy="502920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213D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8999" y="4114800"/>
            <a:ext cx="2618155" cy="17373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8999" y="4114800"/>
            <a:ext cx="2618155" cy="54864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8727" y="4279392"/>
            <a:ext cx="23986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review-pr-orchestrator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8727" y="5010912"/>
            <a:ext cx="2398699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Адверсариальный синтез двух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линз в финальный отчёт</a:t>
            </a:r>
          </a:p>
        </p:txBody>
      </p:sp>
      <p:sp>
        <p:nvSpPr>
          <p:cNvPr id="27" name="Chevron 26"/>
          <p:cNvSpPr/>
          <p:nvPr/>
        </p:nvSpPr>
        <p:spPr>
          <a:xfrm>
            <a:off x="8796299" y="4800600"/>
            <a:ext cx="128016" cy="365760"/>
          </a:xfrm>
          <a:prstGeom prst="chevron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91077" y="3520440"/>
            <a:ext cx="502920" cy="502920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213D"/>
                </a:solidFill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33459" y="4114800"/>
            <a:ext cx="2618155" cy="17373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33459" y="4114800"/>
            <a:ext cx="2618155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43187" y="4279392"/>
            <a:ext cx="23986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review-pr-recheck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3187" y="5010912"/>
            <a:ext cx="2398699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Проверка после того как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автор запушил правки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277"/>
                </a:solidFill>
                <a:latin typeface="Calibri"/>
              </a:rPr>
              <a:t>Совет из документации: ревьюер, которого попросили искать пробелы, что-нибудь найдёт почти всегда — гоняйся только за тем, что реально ломает корректность.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CA311"/>
                </a:solidFill>
                <a:latin typeface="Calibri"/>
              </a:rPr>
              <a:t>ЧАСТЬ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Специфика Manual QA и claude-cbs-agent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94760"/>
            <a:ext cx="777240" cy="381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041648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C7CEE8"/>
                </a:solidFill>
                <a:latin typeface="Calibri"/>
              </a:rPr>
              <a:t>Роли, роутинг моделей, лайфхаки конкретно для нашей команды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C2"/>
                </a:solidFill>
                <a:latin typeface="Calibri"/>
              </a:rPr>
              <a:t>26 / 43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РОУТИНГ МОДЕЛЕЙ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Gather → Judge → Escalate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27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3108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63040"/>
                <a:gridCol w="1828800"/>
                <a:gridCol w="3931920"/>
                <a:gridCol w="3657600"/>
              </a:tblGrid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Стадия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Что делает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Что НЕ делает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Gather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Haiku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Фетчит/читает и сжимает в bundle: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диф, тикет, конвенции, файлы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Никогда не выносит вердикт,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не применяет чек-лист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Judge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Sonnet (default)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Выносит вердикт, пишет ТС,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даёт рекомендацию — по bundle + ссылке на чек-лист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Не копирует чек-лист в промпт,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не фетчит сам «для простоты»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Escalate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Opus (last resort)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Только один явно названный сложный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кейс, который Sonnet не решил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Не используется по привычке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или «на всякий случай»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5074920"/>
            <a:ext cx="10881360" cy="8686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332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14213D"/>
                </a:solidFill>
                <a:latin typeface="Calibri"/>
              </a:rPr>
              <a:t>«Opus-запрос без указанной причины — это ошибка роутинга, а не безопасный дефолт» — прямое правило из model-routing.md фреймворка.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ГРАНИЦЫ РОЛЕЙ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Кто чем владеет — и что не делает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28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429767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94560"/>
                <a:gridCol w="4297680"/>
                <a:gridCol w="4389120"/>
              </a:tblGrid>
              <a:tr h="613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Роль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Владеет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НЕ делает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>
                          <a:solidFill>
                            <a:srgbClr val="1B1F2A"/>
                          </a:solidFill>
                          <a:latin typeface="Calibri"/>
                        </a:rPr>
                        <a:t>Senior Manual QA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>
                          <a:solidFill>
                            <a:srgbClr val="1B1F2A"/>
                          </a:solidFill>
                          <a:latin typeface="Calibri"/>
                        </a:rPr>
                        <a:t>Что и почему проверять — анализ требований, дизайн ТС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>
                          <a:solidFill>
                            <a:srgbClr val="1B1F2A"/>
                          </a:solidFill>
                          <a:latin typeface="Calibri"/>
                        </a:rPr>
                        <a:t>Не пишет automation-код, не меняет тикет/AC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>
                          <a:solidFill>
                            <a:srgbClr val="1B1F2A"/>
                          </a:solidFill>
                          <a:latin typeface="Calibri"/>
                        </a:rPr>
                        <a:t>Senior Full Stack AQA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>
                          <a:solidFill>
                            <a:srgbClr val="1B1F2A"/>
                          </a:solidFill>
                          <a:latin typeface="Calibri"/>
                        </a:rPr>
                        <a:t>Как автоматизировать — код, слои, инфраструктура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>
                          <a:solidFill>
                            <a:srgbClr val="1B1F2A"/>
                          </a:solidFill>
                          <a:latin typeface="Calibri"/>
                        </a:rPr>
                        <a:t>Не придумывает сценарии сверх ТС, не правит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50">
                          <a:solidFill>
                            <a:srgbClr val="1B1F2A"/>
                          </a:solidFill>
                          <a:latin typeface="Calibri"/>
                        </a:rPr>
                        <a:t>prod-код в тест-PR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>
                          <a:solidFill>
                            <a:srgbClr val="1B1F2A"/>
                          </a:solidFill>
                          <a:latin typeface="Calibri"/>
                        </a:rPr>
                        <a:t>Business Analyst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>
                          <a:solidFill>
                            <a:srgbClr val="1B1F2A"/>
                          </a:solidFill>
                          <a:latin typeface="Calibri"/>
                        </a:rPr>
                        <a:t>Что значит требование, снимает неоднозначность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>
                          <a:solidFill>
                            <a:srgbClr val="1B1F2A"/>
                          </a:solidFill>
                          <a:latin typeface="Calibri"/>
                        </a:rPr>
                        <a:t>Не проектирует тест-кейсы, не пишет код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>
                          <a:solidFill>
                            <a:srgbClr val="1B1F2A"/>
                          </a:solidFill>
                          <a:latin typeface="Calibri"/>
                        </a:rPr>
                        <a:t>Solution Architect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>
                          <a:solidFill>
                            <a:srgbClr val="1B1F2A"/>
                          </a:solidFill>
                          <a:latin typeface="Calibri"/>
                        </a:rPr>
                        <a:t>NFR и архитектурные решения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>
                          <a:solidFill>
                            <a:srgbClr val="1B1F2A"/>
                          </a:solidFill>
                          <a:latin typeface="Calibri"/>
                        </a:rPr>
                        <a:t>Не подтверждает бизнес-требования вместо BA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>
                          <a:solidFill>
                            <a:srgbClr val="1B1F2A"/>
                          </a:solidFill>
                          <a:latin typeface="Calibri"/>
                        </a:rPr>
                        <a:t>AQA Lead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>
                          <a:solidFill>
                            <a:srgbClr val="1B1F2A"/>
                          </a:solidFill>
                          <a:latin typeface="Calibri"/>
                        </a:rPr>
                        <a:t>Стратегия тестирования, quality gates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>
                          <a:solidFill>
                            <a:srgbClr val="1B1F2A"/>
                          </a:solidFill>
                          <a:latin typeface="Calibri"/>
                        </a:rPr>
                        <a:t>Не пишет тест-кейсы вручную сам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>
                          <a:solidFill>
                            <a:srgbClr val="1B1F2A"/>
                          </a:solidFill>
                          <a:latin typeface="Calibri"/>
                        </a:rPr>
                        <a:t>AI Architect (meta)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>
                          <a:solidFill>
                            <a:srgbClr val="1B1F2A"/>
                          </a:solidFill>
                          <a:latin typeface="Calibri"/>
                        </a:rPr>
                        <a:t>Здоровье самого фреймворка — персоны/команды/доки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>
                          <a:solidFill>
                            <a:srgbClr val="1B1F2A"/>
                          </a:solidFill>
                          <a:latin typeface="Calibri"/>
                        </a:rPr>
                        <a:t>Не лезет в продуктовый QA/BA/архитектурный процесс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ЛАЙФХАКИ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Конкретно для Manual QA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29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83080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1746504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Не копируй тикет руками в чат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112264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дай ключ (TB-2179) — atlassian MCP сам зафетчит свежую версию. Меньше текста в промпте, ноль риска устаревшей копипасты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52344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2715768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«Needs clarification» — это стоп-сигнал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3081527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не проси ИИ угадать и продолжить дальше — открытый вопрос ждёт ответа от BA, а не домысливания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21608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3685032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Открытые вопросы — это фича, не баг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050792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явный список вопросов лучше молчаливого предположения, которое потом придётся переделывать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690872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4654296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Повторный запуск не пересоздаёт с нуля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5020056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mqa-review-story на тот же тикет обновляет analysis.md по месту с записью в Changelog — дешевле и безопаснее, чем копипастить заново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660136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562356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Совместное ревью — одной командой, не пинг-понгом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5989320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/review-board manual-qa,aqa,analyst: TICKET вместо переписки по чатам и почте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ЛАЙФХАК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Явные жёсткие правила = меньше споров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30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600">
                <a:solidFill>
                  <a:srgbClr val="FCA311"/>
                </a:solidFill>
                <a:latin typeface="Calibri"/>
              </a:rPr>
              <a:t>●  </a:t>
            </a:r>
            <a:r>
              <a:rPr sz="1600" b="1">
                <a:solidFill>
                  <a:srgbClr val="1B1F2A"/>
                </a:solidFill>
                <a:latin typeface="Calibri"/>
              </a:rPr>
              <a:t>1 AC = 1 Test Case по умолчанию</a:t>
            </a:r>
            <a:r>
              <a:rPr sz="1600">
                <a:solidFill>
                  <a:srgbClr val="1B1F2A"/>
                </a:solidFill>
                <a:latin typeface="Calibri"/>
              </a:rPr>
              <a:t> — правило зафиксировано в промпте персоны, поэтому не нужно каждый раз спорить, «сколько кейсов достаточно»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600">
                <a:solidFill>
                  <a:srgbClr val="FCA311"/>
                </a:solidFill>
                <a:latin typeface="Calibri"/>
              </a:rPr>
              <a:t>●  </a:t>
            </a:r>
            <a:r>
              <a:rPr sz="1600" b="1">
                <a:solidFill>
                  <a:srgbClr val="1B1F2A"/>
                </a:solidFill>
                <a:latin typeface="Calibri"/>
              </a:rPr>
              <a:t>«Минимальный набор» ≠ «меньше кейсов»</a:t>
            </a:r>
            <a:r>
              <a:rPr sz="1600">
                <a:solidFill>
                  <a:srgbClr val="1B1F2A"/>
                </a:solidFill>
                <a:latin typeface="Calibri"/>
              </a:rPr>
              <a:t> — это явно помеченный анти-паттерн: тикет с 17 AC должен дать документ минимум с 17 кейсами, а не «репрезентативные» 6-8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600">
                <a:solidFill>
                  <a:srgbClr val="FCA311"/>
                </a:solidFill>
                <a:latin typeface="Calibri"/>
              </a:rPr>
              <a:t>●  </a:t>
            </a:r>
            <a:r>
              <a:rPr sz="1600" b="1">
                <a:solidFill>
                  <a:srgbClr val="1B1F2A"/>
                </a:solidFill>
                <a:latin typeface="Calibri"/>
              </a:rPr>
              <a:t>Декомпозиция по партициям</a:t>
            </a:r>
            <a:r>
              <a:rPr sz="1600">
                <a:solidFill>
                  <a:srgbClr val="1B1F2A"/>
                </a:solidFill>
                <a:latin typeface="Calibri"/>
              </a:rPr>
              <a:t> — правило «CORE или LOCAL» → 2 кейса, даже если поведение выглядит одинаково: баг может жить только в одном пути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600">
                <a:solidFill>
                  <a:srgbClr val="FCA311"/>
                </a:solidFill>
                <a:latin typeface="Calibri"/>
              </a:rPr>
              <a:t>●  </a:t>
            </a:r>
            <a:r>
              <a:rPr sz="1600" b="1">
                <a:solidFill>
                  <a:srgbClr val="1B1F2A"/>
                </a:solidFill>
                <a:latin typeface="Calibri"/>
              </a:rPr>
              <a:t>Итог</a:t>
            </a:r>
            <a:r>
              <a:rPr sz="1600">
                <a:solidFill>
                  <a:srgbClr val="1B1F2A"/>
                </a:solidFill>
                <a:latin typeface="Calibri"/>
              </a:rPr>
              <a:t> — жёсткое правило в промпте персоны раз навсегда экономит раунды уточнений на каждом отдельном тикете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CA311"/>
                </a:solidFill>
                <a:latin typeface="Calibri"/>
              </a:rPr>
              <a:t>ЧАСТЬ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Полный цикл: новый модуль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94760"/>
            <a:ext cx="777240" cy="381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041648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C7CEE8"/>
                </a:solidFill>
                <a:latin typeface="Calibri"/>
              </a:rPr>
              <a:t>Идеальный пайплайн — и как он реально выглядел на TB-2179 (Currency, US-01.13.02-04, сессия 2026-08-21)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C2"/>
                </a:solidFill>
                <a:latin typeface="Calibri"/>
              </a:rPr>
              <a:t>31 / 43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ОБЗОР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Пайплайн: Manual QA → Allure TestOps → AQA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32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Oval 6"/>
          <p:cNvSpPr/>
          <p:nvPr/>
        </p:nvSpPr>
        <p:spPr>
          <a:xfrm>
            <a:off x="1421251" y="1920240"/>
            <a:ext cx="502920" cy="502920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213D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2065263" cy="2331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2065263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816352"/>
            <a:ext cx="18458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mqa-review-story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547872"/>
            <a:ext cx="1845807" cy="13075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Анализ требований: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Jira + Confluence + Bruno</a:t>
            </a:r>
          </a:p>
        </p:txBody>
      </p:sp>
      <p:sp>
        <p:nvSpPr>
          <p:cNvPr id="12" name="Chevron 11"/>
          <p:cNvSpPr/>
          <p:nvPr/>
        </p:nvSpPr>
        <p:spPr>
          <a:xfrm>
            <a:off x="2714487" y="3634739"/>
            <a:ext cx="128016" cy="365760"/>
          </a:xfrm>
          <a:prstGeom prst="chevron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32819" y="1920240"/>
            <a:ext cx="502920" cy="502920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213D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1647" y="2651760"/>
            <a:ext cx="2065263" cy="2331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51647" y="2651760"/>
            <a:ext cx="2065263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1375" y="2816352"/>
            <a:ext cx="18458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allure-create-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test-case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1375" y="3547872"/>
            <a:ext cx="1845807" cy="13075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Дизайн ТС,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создание кейсов в Allure</a:t>
            </a:r>
          </a:p>
        </p:txBody>
      </p:sp>
      <p:sp>
        <p:nvSpPr>
          <p:cNvPr id="18" name="Chevron 17"/>
          <p:cNvSpPr/>
          <p:nvPr/>
        </p:nvSpPr>
        <p:spPr>
          <a:xfrm>
            <a:off x="4926055" y="3634739"/>
            <a:ext cx="128016" cy="365760"/>
          </a:xfrm>
          <a:prstGeom prst="chevron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44387" y="1920240"/>
            <a:ext cx="502920" cy="502920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213D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63215" y="2651760"/>
            <a:ext cx="2065263" cy="2331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63215" y="2651760"/>
            <a:ext cx="2065263" cy="54864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72943" y="2816352"/>
            <a:ext cx="18458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review-board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2943" y="3547872"/>
            <a:ext cx="1845807" cy="13075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Совместное ревью: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QA + AQA + BA</a:t>
            </a:r>
          </a:p>
        </p:txBody>
      </p:sp>
      <p:sp>
        <p:nvSpPr>
          <p:cNvPr id="24" name="Chevron 23"/>
          <p:cNvSpPr/>
          <p:nvPr/>
        </p:nvSpPr>
        <p:spPr>
          <a:xfrm>
            <a:off x="7137623" y="3634739"/>
            <a:ext cx="128016" cy="365760"/>
          </a:xfrm>
          <a:prstGeom prst="chevron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55955" y="1920240"/>
            <a:ext cx="502920" cy="502920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213D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74783" y="2651760"/>
            <a:ext cx="2065263" cy="2331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74783" y="2651760"/>
            <a:ext cx="2065263" cy="54864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84511" y="2816352"/>
            <a:ext cx="18458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Status: Approved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4511" y="3547872"/>
            <a:ext cx="1845807" cy="13075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Гейт для автоматизации</a:t>
            </a:r>
          </a:p>
        </p:txBody>
      </p:sp>
      <p:sp>
        <p:nvSpPr>
          <p:cNvPr id="30" name="Chevron 29"/>
          <p:cNvSpPr/>
          <p:nvPr/>
        </p:nvSpPr>
        <p:spPr>
          <a:xfrm>
            <a:off x="9349191" y="3634739"/>
            <a:ext cx="128016" cy="365760"/>
          </a:xfrm>
          <a:prstGeom prst="chevron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67523" y="1920240"/>
            <a:ext cx="502920" cy="502920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213D"/>
                </a:solidFill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86351" y="2651760"/>
            <a:ext cx="2065263" cy="2331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86351" y="2651760"/>
            <a:ext cx="2065263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96079" y="2816352"/>
            <a:ext cx="18458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aqa-automate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3547872"/>
            <a:ext cx="1845807" cy="13075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Код теста + PR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в cbs-test-automation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257800"/>
            <a:ext cx="10881360" cy="9144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13248"/>
            <a:ext cx="10332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5B6277"/>
                </a:solidFill>
                <a:latin typeface="Calibri"/>
              </a:rPr>
              <a:t>Локальная альтернатива без Allure: mqa-create-local-test-case (offline-обзор, клиентский хендовер) — никогда оба пути одновременно для одного тикета.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КАК ЭТО БЫЛО НА САМОМ ДЕЛЕ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TB-2179 — Currency, реальная сессия 2026-08-21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33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4213D"/>
                </a:solidFill>
                <a:latin typeface="Calibri"/>
              </a:rPr>
              <a:t>Задача: US-01.13.02/03/04 (курсы валют) — по ходу сессии пользователь сам исправил порядок исследования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4213D"/>
                </a:solidFill>
                <a:latin typeface="Calibri"/>
              </a:rPr>
              <a:t>и закрепил его как постоянное правило в fullstack-aqa-agent.md: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423160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386584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Confluence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752344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документируй требование в docs/module-theory/currency — что реально должно происходить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00400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3163824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Bruno +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3529584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документируй что реально построено — до, а не после разбора требования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977639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3941063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Существующие module-theory доки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4306824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перечитай, что по этому модулю уже задокументировано ранее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754879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4718303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Вердикт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5084064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автоматизируемо сейчас или нет — явно, а не по умолчанию «да»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532119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5495543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Только теперь — код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5861303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автоматизация, если вердикт это позволяет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172200"/>
            <a:ext cx="10881360" cy="5029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6236208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14213D"/>
                </a:solidFill>
                <a:latin typeface="Calibri"/>
              </a:rPr>
              <a:t>Правило постоянное: действует даже для историй, которые уже были автоматизированы ранее — без исключений.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ЖИВОЙ ПРИМЕР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Почему нельзя выдумывать контракт по памяти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34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US-01.13.03, TC-01 «GET direct cross-rate» — сверка с реальным Bruno-контрактом вскрыла 4 расхождения: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94560"/>
          <a:ext cx="10881360" cy="3200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57200"/>
                <a:gridCol w="4937760"/>
                <a:gridCol w="5486400"/>
              </a:tblGrid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В тест-кейсе написано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Реальный контракт Currency Engine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GET /pricing/rate?market=...&amp;rateType=ASK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POST currency-engine/.../currencies/rates,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JSON body — GET-эндпоинта для курсов не существует вовсе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transitCurrency, amtFrom, amtTo в ответе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Таких полей нет; реальный ответ: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baseCurrency, quoteCurrency, rateType, quoteCode, rateValue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rateType=ASK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На QA засеян только MID; ASK даёт 404,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требует ~45-90с асинхронного пайплайна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401/403 на «internal permission»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В Bruno нет ни одного 401/403-кейса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для этого эндпоинта — не подтверждаемо ни туда, ни сюда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235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5B6277"/>
                </a:solidFill>
                <a:latin typeface="Calibri"/>
              </a:rPr>
              <a:t>Находка ещё интереснее: текст кейса совпадает не с реализацией, а с иллюстративным OpenAPI-спеком BA на Confluence — который сам отличается от реального API. Три разные версии одного контракта.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ЖИВОЙ ПРИМЕР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Открытые вопросы — реальные, не выдуманные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35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9144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9D8F"/>
                </a:solidFill>
                <a:latin typeface="Calibri"/>
              </a:rPr>
              <a:t>Агент → Viktoriya (Manual QA)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1B1F2A"/>
                </a:solidFill>
                <a:latin typeface="Calibri"/>
              </a:rPr>
              <a:t>Три вопроса, оформленные из разбора контракт-дрифта выше, а не придуманные заранее: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80360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2843784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Эндпоинт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3209544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исправить GET /pricing/rate на реальный POST-контракт Currency Engine?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49039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3712463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Поля ответа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078224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убрать transitCurrency/amtFrom/amtTo — их не существует; использовать реальную форму ответа?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617720"/>
            <a:ext cx="329184" cy="329184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4581144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D"/>
                </a:solidFill>
                <a:latin typeface="Calibri"/>
              </a:rPr>
              <a:t>rateType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4946904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277"/>
                </a:solidFill>
                <a:latin typeface="Calibri"/>
              </a:rPr>
              <a:t>оставить ASK (нужна отдельная async-настройка ~45-90с) или переключиться на MID (мгновенно, уже засеян)?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14213D"/>
                </a:solidFill>
                <a:latin typeface="Calibri"/>
              </a:rPr>
              <a:t>Результат: тест для US-01.13.03/04 не написан в этой сессии — вердикт не был чистым «да», и автоматизация была осознанно отложена до ответа BA/QA, а не форсирована.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ДИСЦИПЛИНА ГЕЙТА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Когда можно обойти Approved, а когда — нет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36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257800" cy="548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Case 2405 — explicit override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5257800" cy="32918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4709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250">
                <a:solidFill>
                  <a:srgbClr val="FCA311"/>
                </a:solidFill>
                <a:latin typeface="Calibri"/>
              </a:rPr>
              <a:t>●  </a:t>
            </a:r>
            <a:r>
              <a:rPr sz="1250" b="1">
                <a:solidFill>
                  <a:srgbClr val="1B1F2A"/>
                </a:solidFill>
                <a:latin typeface="Calibri"/>
              </a:rPr>
              <a:t>Кейс был Draft</a:t>
            </a:r>
            <a:r>
              <a:rPr sz="1250">
                <a:solidFill>
                  <a:srgbClr val="1B1F2A"/>
                </a:solidFill>
                <a:latin typeface="Calibri"/>
              </a:rPr>
              <a:t> с пустыми scenario.steps — обычно хард-блокер для автоматизации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250">
                <a:solidFill>
                  <a:srgbClr val="FCA311"/>
                </a:solidFill>
                <a:latin typeface="Calibri"/>
              </a:rPr>
              <a:t>●  </a:t>
            </a:r>
            <a:r>
              <a:rPr sz="1250" b="1">
                <a:solidFill>
                  <a:srgbClr val="1B1F2A"/>
                </a:solidFill>
                <a:latin typeface="Calibri"/>
              </a:rPr>
              <a:t>Пользователь сам</a:t>
            </a:r>
            <a:r>
              <a:rPr sz="1250">
                <a:solidFill>
                  <a:srgbClr val="1B1F2A"/>
                </a:solidFill>
                <a:latin typeface="Calibri"/>
              </a:rPr>
              <a:t> предоставил Steps/Expected Result прямо в чате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250">
                <a:solidFill>
                  <a:srgbClr val="FCA311"/>
                </a:solidFill>
                <a:latin typeface="Calibri"/>
              </a:rPr>
              <a:t>●  </a:t>
            </a:r>
            <a:r>
              <a:rPr sz="1250" b="1">
                <a:solidFill>
                  <a:srgbClr val="1B1F2A"/>
                </a:solidFill>
                <a:latin typeface="Calibri"/>
              </a:rPr>
              <a:t>Явно сослался на прецедент</a:t>
            </a:r>
            <a:r>
              <a:rPr sz="1250">
                <a:solidFill>
                  <a:srgbClr val="1B1F2A"/>
                </a:solidFill>
                <a:latin typeface="Calibri"/>
              </a:rPr>
              <a:t> — те же условия, что и в кейсах 1867/1869 ранее в этом же тикете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250">
                <a:solidFill>
                  <a:srgbClr val="FCA311"/>
                </a:solidFill>
                <a:latin typeface="Calibri"/>
              </a:rPr>
              <a:t>●  </a:t>
            </a:r>
            <a:r>
              <a:rPr sz="1250" b="1">
                <a:solidFill>
                  <a:srgbClr val="1B1F2A"/>
                </a:solidFill>
                <a:latin typeface="Calibri"/>
              </a:rPr>
              <a:t>Результат:</a:t>
            </a:r>
            <a:r>
              <a:rPr sz="1250">
                <a:solidFill>
                  <a:srgbClr val="1B1F2A"/>
                </a:solidFill>
                <a:latin typeface="Calibri"/>
              </a:rPr>
              <a:t> написан currency-smoke.spec.ts для US-01.13.02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5257800" cy="5486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4708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US-01.13.03/04 — withheld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286000"/>
            <a:ext cx="5257800" cy="32918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514600"/>
            <a:ext cx="4709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250">
                <a:solidFill>
                  <a:srgbClr val="FCA311"/>
                </a:solidFill>
                <a:latin typeface="Calibri"/>
              </a:rPr>
              <a:t>●  </a:t>
            </a:r>
            <a:r>
              <a:rPr sz="1250" b="1">
                <a:solidFill>
                  <a:srgbClr val="1B1F2A"/>
                </a:solidFill>
                <a:latin typeface="Calibri"/>
              </a:rPr>
              <a:t>Шаг 4 (вердикт)</a:t>
            </a:r>
            <a:r>
              <a:rPr sz="1250">
                <a:solidFill>
                  <a:srgbClr val="1B1F2A"/>
                </a:solidFill>
                <a:latin typeface="Calibri"/>
              </a:rPr>
              <a:t> Mandatory Research Flow не дал чистого «да»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250">
                <a:solidFill>
                  <a:srgbClr val="FCA311"/>
                </a:solidFill>
                <a:latin typeface="Calibri"/>
              </a:rPr>
              <a:t>●  </a:t>
            </a:r>
            <a:r>
              <a:rPr sz="1250" b="1">
                <a:solidFill>
                  <a:srgbClr val="1B1F2A"/>
                </a:solidFill>
                <a:latin typeface="Calibri"/>
              </a:rPr>
              <a:t>Никто не попросил</a:t>
            </a:r>
            <a:r>
              <a:rPr sz="1250">
                <a:solidFill>
                  <a:srgbClr val="1B1F2A"/>
                </a:solidFill>
                <a:latin typeface="Calibri"/>
              </a:rPr>
              <a:t> явного override — гейт сработал по умолчанию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250">
                <a:solidFill>
                  <a:srgbClr val="FCA311"/>
                </a:solidFill>
                <a:latin typeface="Calibri"/>
              </a:rPr>
              <a:t>●  </a:t>
            </a:r>
            <a:r>
              <a:rPr sz="1250" b="1">
                <a:solidFill>
                  <a:srgbClr val="1B1F2A"/>
                </a:solidFill>
                <a:latin typeface="Calibri"/>
              </a:rPr>
              <a:t>Automation Status</a:t>
            </a:r>
            <a:r>
              <a:rPr sz="1250">
                <a:solidFill>
                  <a:srgbClr val="1B1F2A"/>
                </a:solidFill>
                <a:latin typeface="Calibri"/>
              </a:rPr>
              <a:t> не проставлен «Automated» — тест не написан вообще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250">
                <a:solidFill>
                  <a:srgbClr val="FCA311"/>
                </a:solidFill>
                <a:latin typeface="Calibri"/>
              </a:rPr>
              <a:t>●  </a:t>
            </a:r>
            <a:r>
              <a:rPr sz="1250" b="1">
                <a:solidFill>
                  <a:srgbClr val="1B1F2A"/>
                </a:solidFill>
                <a:latin typeface="Calibri"/>
              </a:rPr>
              <a:t>Результат:</a:t>
            </a:r>
            <a:r>
              <a:rPr sz="1250">
                <a:solidFill>
                  <a:srgbClr val="1B1F2A"/>
                </a:solidFill>
                <a:latin typeface="Calibri"/>
              </a:rPr>
              <a:t> вопросы ушли в Manual QA, а не в код, закрывающий глаза на пробел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ЖИВОЙ ПРИМЕР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Реальный тест-код и его обоснование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37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2606040"/>
          </a:xfrm>
          <a:prstGeom prst="rect">
            <a:avLst/>
          </a:prstGeom>
          <a:solidFill>
            <a:srgbClr val="0D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10881360" cy="292608"/>
          </a:xfrm>
          <a:prstGeom prst="rect">
            <a:avLst/>
          </a:prstGeom>
          <a:solidFill>
            <a:srgbClr val="1E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828800"/>
            <a:ext cx="109728" cy="10972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408" y="1828800"/>
            <a:ext cx="109728" cy="109728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9576" y="1828800"/>
            <a:ext cx="109728" cy="10972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764792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C2"/>
                </a:solidFill>
                <a:latin typeface="Calibri"/>
              </a:rPr>
              <a:t>что реально попало в код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157984"/>
            <a:ext cx="1037844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onsolas"/>
              </a:rPr>
              <a:t>файл:  </a:t>
            </a:r>
            <a:r>
              <a:rPr sz="1250">
                <a:solidFill>
                  <a:srgbClr val="2A9D8F"/>
                </a:solidFill>
                <a:latin typeface="Consolas"/>
              </a:rPr>
              <a:t>api/system_core/tests/currency-smoke.spec.ts (cbs-test-automation)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onsolas"/>
              </a:rPr>
              <a:t>#  </a:t>
            </a:r>
            <a:r>
              <a:rPr sz="1250">
                <a:solidFill>
                  <a:srgbClr val="9AA3C2"/>
                </a:solidFill>
                <a:latin typeface="Consolas"/>
              </a:rPr>
              <a:t>US-01.13.02 / Allure case 2405 — multi-band CURRENCY.ORDER,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>
                <a:solidFill>
                  <a:srgbClr val="9AA3C2"/>
                </a:solidFill>
                <a:latin typeface="Consolas"/>
              </a:rPr>
              <a:t>USD/EUR, 3 AMT_FROM-банда, BID/ASK/MID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onsolas"/>
              </a:rPr>
              <a:t>почему TEFO, не REUTERS?  </a:t>
            </a:r>
            <a:r>
              <a:rPr sz="1250">
                <a:solidFill>
                  <a:srgbClr val="FCA311"/>
                </a:solidFill>
                <a:latin typeface="Consolas"/>
              </a:rPr>
              <a:t>спека допускает REUTERS/BLOOMBERG/MANUAL,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но живой POST на QA с SOURCE_SYSTEM=REUTERS вернул 400 —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на этом окружении засеян только TEFO. Проверено перед тем как писать тест.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8813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00">
                <a:solidFill>
                  <a:srgbClr val="FCA311"/>
                </a:solidFill>
                <a:latin typeface="Calibri"/>
              </a:rPr>
              <a:t>●  </a:t>
            </a:r>
            <a:r>
              <a:rPr sz="1300" b="1">
                <a:solidFill>
                  <a:srgbClr val="1B1F2A"/>
                </a:solidFill>
                <a:latin typeface="Calibri"/>
              </a:rPr>
              <a:t>Верификация:</a:t>
            </a:r>
            <a:r>
              <a:rPr sz="1300">
                <a:solidFill>
                  <a:srgbClr val="1B1F2A"/>
                </a:solidFill>
                <a:latin typeface="Calibri"/>
              </a:rPr>
              <a:t> tsc/eslint/prettier — чисто. Сам тест НЕ запущен — пользователь запускает тесты вручную, это осознанная норма команды, не недосмотр.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00">
                <a:solidFill>
                  <a:srgbClr val="FCA311"/>
                </a:solidFill>
                <a:latin typeface="Calibri"/>
              </a:rPr>
              <a:t>●  </a:t>
            </a:r>
            <a:r>
              <a:rPr sz="1300" b="1">
                <a:solidFill>
                  <a:srgbClr val="1B1F2A"/>
                </a:solidFill>
                <a:latin typeface="Calibri"/>
              </a:rPr>
              <a:t>Осталось uncommitted</a:t>
            </a:r>
            <a:r>
              <a:rPr sz="1300">
                <a:solidFill>
                  <a:srgbClr val="1B1F2A"/>
                </a:solidFill>
                <a:latin typeface="Calibri"/>
              </a:rPr>
              <a:t> на конец сессии — по правилам репозитория коммит/PR это отдельное явное действие пользователя, не рефлекс модели.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Одна сессия → постоянное улучшение процесса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38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D"/>
                </a:solidFill>
                <a:latin typeface="Calibri"/>
              </a:rPr>
              <a:t>TB-2179 не просто продвинул тикет — он оставил после себя переиспользуемое знание: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108813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FCA311"/>
                </a:solidFill>
                <a:latin typeface="Calibri"/>
              </a:rPr>
              <a:t>●  </a:t>
            </a:r>
            <a:r>
              <a:rPr sz="1300" b="1">
                <a:solidFill>
                  <a:srgbClr val="1B1F2A"/>
                </a:solidFill>
                <a:latin typeface="Calibri"/>
              </a:rPr>
              <a:t>commands/team/fullstack-aqa-agent.md</a:t>
            </a:r>
            <a:r>
              <a:rPr sz="1300">
                <a:solidFill>
                  <a:srgbClr val="1B1F2A"/>
                </a:solidFill>
                <a:latin typeface="Calibri"/>
              </a:rPr>
              <a:t> — Mandatory Research Flow закреплён навсегда, а не только «на сегодня»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FCA311"/>
                </a:solidFill>
                <a:latin typeface="Calibri"/>
              </a:rPr>
              <a:t>●  </a:t>
            </a:r>
            <a:r>
              <a:rPr sz="1300" b="1">
                <a:solidFill>
                  <a:srgbClr val="1B1F2A"/>
                </a:solidFill>
                <a:latin typeface="Calibri"/>
              </a:rPr>
              <a:t>docs/module-theory/Currency Definition and Logic/</a:t>
            </a:r>
            <a:r>
              <a:rPr sz="1300">
                <a:solidFill>
                  <a:srgbClr val="1B1F2A"/>
                </a:solidFill>
                <a:latin typeface="Calibri"/>
              </a:rPr>
              <a:t> — 4 новых/обновлённых README с реальным контрактом и live-проверками</a:t>
            </a:r>
          </a:p>
        </p:txBody>
      </p:sp>
      <p:sp>
        <p:nvSpPr>
          <p:cNvPr id="9" name="Oval 8"/>
          <p:cNvSpPr/>
          <p:nvPr/>
        </p:nvSpPr>
        <p:spPr>
          <a:xfrm>
            <a:off x="1421251" y="4023360"/>
            <a:ext cx="502920" cy="502920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213D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63440"/>
            <a:ext cx="2065263" cy="17373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663440"/>
            <a:ext cx="2065263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828031"/>
            <a:ext cx="18458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Confluence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559552"/>
            <a:ext cx="1845807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US-01.13.03/04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до Bruno, не после</a:t>
            </a:r>
          </a:p>
        </p:txBody>
      </p:sp>
      <p:sp>
        <p:nvSpPr>
          <p:cNvPr id="14" name="Chevron 13"/>
          <p:cNvSpPr/>
          <p:nvPr/>
        </p:nvSpPr>
        <p:spPr>
          <a:xfrm>
            <a:off x="2714487" y="5349240"/>
            <a:ext cx="128016" cy="365760"/>
          </a:xfrm>
          <a:prstGeom prst="chevron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32819" y="4023360"/>
            <a:ext cx="502920" cy="502920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213D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1647" y="4663440"/>
            <a:ext cx="2065263" cy="17373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51647" y="4663440"/>
            <a:ext cx="2065263" cy="54864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1375" y="4828031"/>
            <a:ext cx="18458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Bruno + live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1375" y="5559552"/>
            <a:ext cx="1845807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4 расхождения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найдены, не угаданы</a:t>
            </a:r>
          </a:p>
        </p:txBody>
      </p:sp>
      <p:sp>
        <p:nvSpPr>
          <p:cNvPr id="20" name="Chevron 19"/>
          <p:cNvSpPr/>
          <p:nvPr/>
        </p:nvSpPr>
        <p:spPr>
          <a:xfrm>
            <a:off x="4926055" y="5349240"/>
            <a:ext cx="128016" cy="365760"/>
          </a:xfrm>
          <a:prstGeom prst="chevron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44387" y="4023360"/>
            <a:ext cx="502920" cy="502920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213D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63215" y="4663440"/>
            <a:ext cx="2065263" cy="17373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63215" y="4663440"/>
            <a:ext cx="2065263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2943" y="4828031"/>
            <a:ext cx="18458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Module-theory 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2943" y="5559552"/>
            <a:ext cx="1845807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закреплены как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постоянное знание</a:t>
            </a:r>
          </a:p>
        </p:txBody>
      </p:sp>
      <p:sp>
        <p:nvSpPr>
          <p:cNvPr id="26" name="Chevron 25"/>
          <p:cNvSpPr/>
          <p:nvPr/>
        </p:nvSpPr>
        <p:spPr>
          <a:xfrm>
            <a:off x="7137623" y="5349240"/>
            <a:ext cx="128016" cy="365760"/>
          </a:xfrm>
          <a:prstGeom prst="chevron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55955" y="4023360"/>
            <a:ext cx="502920" cy="502920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213D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4783" y="4663440"/>
            <a:ext cx="2065263" cy="17373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74783" y="4663440"/>
            <a:ext cx="2065263" cy="54864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4511" y="4828031"/>
            <a:ext cx="18458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Вердикт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4511" y="5559552"/>
            <a:ext cx="1845807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2405: override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03/04: withheld</a:t>
            </a:r>
          </a:p>
        </p:txBody>
      </p:sp>
      <p:sp>
        <p:nvSpPr>
          <p:cNvPr id="32" name="Chevron 31"/>
          <p:cNvSpPr/>
          <p:nvPr/>
        </p:nvSpPr>
        <p:spPr>
          <a:xfrm>
            <a:off x="9349191" y="5349240"/>
            <a:ext cx="128016" cy="365760"/>
          </a:xfrm>
          <a:prstGeom prst="chevron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67523" y="4023360"/>
            <a:ext cx="502920" cy="502920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213D"/>
                </a:solidFill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86351" y="4663440"/>
            <a:ext cx="2065263" cy="17373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86351" y="4663440"/>
            <a:ext cx="2065263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96079" y="4828031"/>
            <a:ext cx="18458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Код / вопросы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96079" y="5559552"/>
            <a:ext cx="1845807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1 тест написан,</a:t>
            </a:r>
          </a:p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B6277"/>
                </a:solidFill>
                <a:latin typeface="Calibri"/>
              </a:rPr>
              <a:t>3 вопроса — к QA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Чек-лист на вынос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39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54864" cy="7772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1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Не дёргай модель/effort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860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посреди задачи — полный промах кэша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79"/>
            <a:ext cx="54864" cy="7772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907791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Explore → Plan → Implement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33756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для многофайловых задач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77639"/>
            <a:ext cx="54864" cy="7772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959352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Пиши конкретно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38912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рамки, источник, паттерн, симптом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874519"/>
            <a:ext cx="54864" cy="7772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856231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/clear между задачами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2860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и после 2 неудачных исправлений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926079"/>
            <a:ext cx="54864" cy="7772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2907791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Субагенты/форки — для чтения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33756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основной контекст — для решений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977639"/>
            <a:ext cx="54864" cy="7772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959352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/usage, /context, /insights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38912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смотри регулярно, не только когда «дорого»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1874519"/>
            <a:ext cx="54864" cy="7772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1856231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Не копируй тикет руками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22860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дай ключ, пусть MCP сам зафетчит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2926079"/>
            <a:ext cx="54864" cy="7772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2907791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Needs clarification = стоп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33756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не проси угадать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3977639"/>
            <a:ext cx="54864" cy="7772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3959352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review-board вместо пинг-понга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438912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совместный гейт перед automate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ЖИВОЕ ДОКАЗАТЕЛЬСТВО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Наш собственный /usage — снимок сессии AI Architect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40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881360" cy="1188720"/>
          </a:xfrm>
          <a:prstGeom prst="rect">
            <a:avLst/>
          </a:prstGeom>
          <a:solidFill>
            <a:srgbClr val="0D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10881360" cy="292608"/>
          </a:xfrm>
          <a:prstGeom prst="rect">
            <a:avLst/>
          </a:prstGeom>
          <a:solidFill>
            <a:srgbClr val="1E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783080"/>
            <a:ext cx="109728" cy="10972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408" y="1783080"/>
            <a:ext cx="109728" cy="109728"/>
          </a:xfrm>
          <a:prstGeom prst="ellipse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9576" y="1783080"/>
            <a:ext cx="109728" cy="10972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719072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3C2"/>
                </a:solidFill>
                <a:latin typeface="Calibri"/>
              </a:rPr>
              <a:t>/usage —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112264"/>
            <a:ext cx="103784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250">
                <a:solidFill>
                  <a:srgbClr val="9AA3C2"/>
                </a:solidFill>
                <a:latin typeface="Consolas"/>
              </a:rPr>
              <a:t>Total cost: $0.0000 (план, не API-ключ)   Usage: 0 input, 0 output, 0 cache read, 0 cache write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2A9D8F"/>
                </a:solidFill>
                <a:latin typeface="Consolas"/>
              </a:rPr>
              <a:t>#  </a:t>
            </a:r>
            <a:r>
              <a:rPr sz="1250">
                <a:solidFill>
                  <a:srgbClr val="2A9D8F"/>
                </a:solidFill>
                <a:latin typeface="Consolas"/>
              </a:rPr>
              <a:t>нули — это первый /usage в свежей сессии; аналитика ниже смотрит на последние 24ч по всем сессиям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9981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213D"/>
                </a:solidFill>
                <a:latin typeface="Calibri"/>
              </a:rPr>
              <a:t>Current session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29000"/>
            <a:ext cx="5029200" cy="292608"/>
          </a:xfrm>
          <a:prstGeom prst="rect">
            <a:avLst/>
          </a:prstGeom>
          <a:solidFill>
            <a:srgbClr val="D9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429000"/>
            <a:ext cx="3017520" cy="292608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60% использовано · resets 14:10 (Europe/Berlin)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9981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213D"/>
                </a:solidFill>
                <a:latin typeface="Calibri"/>
              </a:rPr>
              <a:t>Current week (все модели)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429000"/>
            <a:ext cx="5029200" cy="292608"/>
          </a:xfrm>
          <a:prstGeom prst="rect">
            <a:avLst/>
          </a:prstGeom>
          <a:solidFill>
            <a:srgbClr val="D9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429000"/>
            <a:ext cx="2615184" cy="29260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7947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277"/>
                </a:solidFill>
                <a:latin typeface="Calibri"/>
              </a:rPr>
              <a:t>52% использовано · resets 27 авг, 06:00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605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B6277"/>
                </a:solidFill>
                <a:latin typeface="Calibri"/>
              </a:rPr>
              <a:t>Это лимиты плана — отдельная система координат от токенов/кэша выше, но растёт от того же самого поведения.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40080" y="4617720"/>
          <a:ext cx="10881360" cy="1554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Skills — % usage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Subagents — % usage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Plugins — % usage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fullstack-aqa-agent — 34%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fullstack-aqa-agent — 6%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claude-cbs-agent — 40%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systematic-debugging — 9%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superpowers — 9%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cbs-context — 4%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cbs-context — 4%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claude-api — 1%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ЖИВОЕ ДОКАЗАТЕЛЬСТВО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4 флага, которые Claude Code сам заметил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41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881360" cy="4297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931920"/>
                <a:gridCol w="6949440"/>
              </a:tblGrid>
              <a:tr h="8595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Флаг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Прямая подсказка из /usage (не придумано)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86% usage при &gt;150k контекста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«Longer sessions are more expensive even when cached.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/compact mid-task, /clear when switching to new tasks.»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37% из subagent-heavy сессий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«Each subagent runs its own requests. Be deliberate about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spawning them — consider a cheaper model for simpler subagents.»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34% из одного скилла fullstack-aqa-agent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«Heavy skills can be scoped down or run with a cheaper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model via skill frontmatter.»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40% из плагина claude-cbs-agent целиком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«Review what this plugin contributes — its agents, skills,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200">
                          <a:solidFill>
                            <a:srgbClr val="1B1F2A"/>
                          </a:solidFill>
                          <a:latin typeface="Calibri"/>
                        </a:rPr>
                        <a:t>and MCP tools all count toward your limit.»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14213D"/>
                </a:solidFill>
                <a:latin typeface="Calibri"/>
              </a:rPr>
              <a:t>Совпадение не случайное: это ровно те 4 темы, что уже разобраны в Частях I-III. Собственный расход подтверждает собственные советы.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ЧТО СДЕЛАТЬ ПО-ДРУГОМУ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Конкретные команды на следующий раз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42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881358" cy="4297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18978"/>
                <a:gridCol w="3746041"/>
                <a:gridCol w="4816339"/>
              </a:tblGrid>
              <a:tr h="8595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Флаг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Действие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Команда / настройка</a:t>
                      </a:r>
                    </a:p>
                  </a:txBody>
                  <a:tcPr anchor="ctr" marL="91440" marR="91440" marT="27432" marB="27432">
                    <a:solidFill>
                      <a:srgbClr val="14213D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&gt;150k контекста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чистить на границах задач,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а не когда уже «дорого»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/compact &lt;что сохранить&gt; — на границе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/clear — при смене темы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/rewind — откатить путь (дешевле compact)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37% subagent-heavy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спавнить осознанно,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дешёвая модель для простых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.claude/agents/*.md → model: haiku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для gather-задач (per model-routing.md)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34% из одного скилла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развести Mandatory Research Flow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по стадиям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gather (Confluence+Bruno) → subagent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на Haiku; judge — на основной модели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40% из плагина целиком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периодически проверять,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что реально грузится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/context — что ест контекст сейчас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>
                          <a:solidFill>
                            <a:srgbClr val="1B1F2A"/>
                          </a:solidFill>
                          <a:latin typeface="Calibri"/>
                        </a:rPr>
                        <a:t>/mcp — отключить неиспользуемые серверы</a:t>
                      </a:r>
                    </a:p>
                  </a:txBody>
                  <a:tcPr anchor="ctr" marL="91440" marR="91440" marT="27432" marB="27432"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277"/>
                </a:solidFill>
                <a:latin typeface="Calibri"/>
              </a:rPr>
              <a:t>Ничего нового не выдумано — это те же /compact, /clear, /rewind, /context и model-routing.md, просто применённые к конкретной, реальной находке.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CA311"/>
                </a:solidFill>
                <a:latin typeface="Calibri"/>
              </a:rPr>
              <a:t>ИСТОЧНИКИ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13D"/>
                </a:solidFill>
                <a:latin typeface="Calibri"/>
              </a:rPr>
              <a:t>Документация Claude Code + наши реальные сессии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4064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43 /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277"/>
                </a:solidFill>
                <a:latin typeface="Calibri"/>
              </a:rPr>
              <a:t>cbs-ai-agentic  ·  AI Playbook: Claude Code для QA/BA/AQA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CLAUDE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13D"/>
                </a:solidFill>
                <a:latin typeface="Calibri"/>
              </a:rPr>
              <a:t>CBS-AI-AGENTIC — РЕАЛЬНЫЕ СЕССИИ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91440" cy="50292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057400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213D"/>
                </a:solidFill>
                <a:latin typeface="Calibri"/>
              </a:rPr>
              <a:t>code.claude.com/docs/en/prompt-caching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31720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Механика кэша, слои, TTL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15768"/>
            <a:ext cx="91440" cy="50292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715768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213D"/>
                </a:solidFill>
                <a:latin typeface="Calibri"/>
              </a:rPr>
              <a:t>code.claude.com/docs/en/costs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990087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Экономика, снижение расхода токенов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374135"/>
            <a:ext cx="91440" cy="50292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374135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213D"/>
                </a:solidFill>
                <a:latin typeface="Calibri"/>
              </a:rPr>
              <a:t>code.claude.com/docs/en/best-practices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648455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Explore → Plan → Implement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32503"/>
            <a:ext cx="91440" cy="50292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032503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213D"/>
                </a:solidFill>
                <a:latin typeface="Calibri"/>
              </a:rPr>
              <a:t>code.claude.com/docs/en/sub-agents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306823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Fork vs subagent, наследование кэша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90871"/>
            <a:ext cx="91440" cy="50292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690871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213D"/>
                </a:solidFill>
                <a:latin typeface="Calibri"/>
              </a:rPr>
              <a:t>commands/team/model-routing.md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965191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Gather → Judge → Escalate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49239"/>
            <a:ext cx="91440" cy="50292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349239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213D"/>
                </a:solidFill>
                <a:latin typeface="Calibri"/>
              </a:rPr>
              <a:t>commands/team/manual-qa-agent.md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623559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Роль и гранулярность Manual QA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057400"/>
            <a:ext cx="91440" cy="685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205740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213D"/>
                </a:solidFill>
                <a:latin typeface="Calibri"/>
              </a:rPr>
              <a:t>TB-2179 (2026-08-21)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233172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Currency US-01.13.02-04 — Mandatory Research Flow,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контракт-дрифт, gate-дисциплина (весь пайплайн часть IV)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108960"/>
            <a:ext cx="91440" cy="685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310896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213D"/>
                </a:solidFill>
                <a:latin typeface="Calibri"/>
              </a:rPr>
              <a:t>TB-1533 (2026-08-04)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3383279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PluginManagerApiClient — паттерн хелперов,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explain-first-подход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160520"/>
            <a:ext cx="91440" cy="685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4160520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213D"/>
                </a:solidFill>
                <a:latin typeface="Calibri"/>
              </a:rPr>
              <a:t>TB-2034 (2026-07-23)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43484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Table Group Health — живой симптом,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277"/>
                </a:solidFill>
                <a:latin typeface="Calibri"/>
              </a:rPr>
              <a:t>course-correct дважды за сессию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257799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B6277"/>
                </a:solidFill>
                <a:latin typeface="Calibri"/>
              </a:rPr>
              <a:t>docs/chat-history/*.md — полные записи сессий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1908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B6277"/>
                </a:solidFill>
                <a:latin typeface="Calibri"/>
              </a:rPr>
              <a:t>Цифры и правила проверены фетчем документации/файлов репозитория на дату подготовки, не взяты из памяти модели.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Вопросы?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C7CEE8"/>
                </a:solidFill>
                <a:latin typeface="Calibri"/>
              </a:rPr>
              <a:t>Главное на вынос: кэш экономит ~90% на повторе, но не спасает от раздутого контекста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C7CEE8"/>
                </a:solidFill>
                <a:latin typeface="Calibri"/>
              </a:rPr>
              <a:t>и размытых ролей — управляй объёмом и границами, а не только кэшем.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3C2"/>
                </a:solidFill>
                <a:latin typeface="Calibri"/>
              </a:rPr>
              <a:t>cbs-ai-agentic  ·  AI Architect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